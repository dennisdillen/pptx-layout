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9" r:id="rId7"/>
  </p:sldMasterIdLst>
  <p:notesMasterIdLst>
    <p:notesMasterId r:id="rId9"/>
  </p:notesMasterIdLst>
  <p:sldIdLst>
    <p:sldId id="2147483371" r:id="rId8"/>
  </p:sldIdLst>
  <p:sldSz cx="12192000" cy="6858000"/>
  <p:notesSz cx="6799263" cy="9929813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DE1B0CF-B3D7-4205-B5A7-39B0B4EC3F49}">
          <p14:sldIdLst>
            <p14:sldId id="2147483371"/>
          </p14:sldIdLst>
        </p14:section>
      </p14:sectionLst>
    </p:ext>
    <p:ext uri="{EFAFB233-063F-42B5-8137-9DF3F51BA10A}">
      <p15:sldGuideLst xmlns:p15="http://schemas.microsoft.com/office/powerpoint/2012/main">
        <p15:guide id="9" orient="horz" pos="2115" userDrawn="1">
          <p15:clr>
            <a:srgbClr val="A4A3A4"/>
          </p15:clr>
        </p15:guide>
        <p15:guide id="10" pos="2887" userDrawn="1">
          <p15:clr>
            <a:srgbClr val="A4A3A4"/>
          </p15:clr>
        </p15:guide>
        <p15:guide id="11" orient="horz" pos="3725" userDrawn="1">
          <p15:clr>
            <a:srgbClr val="A4A3A4"/>
          </p15:clr>
        </p15:guide>
        <p15:guide id="13" pos="52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40D669-84D0-B162-3378-47A8B77CF578}" name="Tarnoki, Jule" initials="JT" userId="S::tarnoki@wieselhuber.de::64e1a2df-b511-49af-8b58-3436b3405a7a" providerId="AD"/>
  <p188:author id="{CF56C26F-1919-C496-649D-58931E80044C}" name="Nguyen, Hieu" initials="HN" userId="S::nguyen@wieselhuber.de::4ea87d56-608d-4866-b73f-17d5a3d073f1" providerId="AD"/>
  <p188:author id="{1D1EFE87-515E-3AF0-6ACC-6F155243BED4}" name="Heljen, Renke" initials="RH" userId="S::heljen@wieselhuber.de::13640500-5dd7-43a2-b0b5-5e556eed23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BAB"/>
    <a:srgbClr val="000055"/>
    <a:srgbClr val="6688BB"/>
    <a:srgbClr val="E5233E"/>
    <a:srgbClr val="E4E4F6"/>
    <a:srgbClr val="FF6666"/>
    <a:srgbClr val="EA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11A1CE-DC70-4111-BB99-55EE5BAA7971}">
  <a:tblStyle styleId="{8411A1CE-DC70-4111-BB99-55EE5BAA7971}" styleName="Dr. Wieselhuber &amp; Partner Tabellenvorlage 1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D3DAE7"/>
          </a:solidFill>
        </a:fill>
      </a:tcStyle>
    </a:wholeTbl>
    <a:band1H>
      <a:tcStyle>
        <a:tcBdr/>
        <a:fill>
          <a:solidFill>
            <a:srgbClr val="D3DAE7"/>
          </a:solidFill>
        </a:fill>
      </a:tcStyle>
    </a:band1H>
    <a:band2H>
      <a:tcStyle>
        <a:tcBdr/>
        <a:fill>
          <a:solidFill>
            <a:srgbClr val="EAEDF3"/>
          </a:solidFill>
        </a:fill>
      </a:tcStyle>
    </a:band2H>
    <a:band1V>
      <a:tcStyle>
        <a:tcBdr/>
        <a:fill>
          <a:solidFill>
            <a:srgbClr val="D3DAE7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>
          <a:left>
            <a:ln w="12700" cmpd="sng">
              <a:solidFill>
                <a:schemeClr val="lt1"/>
              </a:solidFill>
            </a:ln>
          </a:left>
          <a:insideH>
            <a:ln w="12700" cmpd="sng">
              <a:solidFill>
                <a:schemeClr val="lt1"/>
              </a:solidFill>
            </a:ln>
          </a:insideH>
        </a:tcBdr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>
          <a:right>
            <a:ln w="12700" cmpd="sng">
              <a:solidFill>
                <a:schemeClr val="lt1"/>
              </a:solidFill>
            </a:ln>
          </a:right>
          <a:insideH>
            <a:ln w="12700" cmpd="sng">
              <a:solidFill>
                <a:schemeClr val="lt1"/>
              </a:solidFill>
            </a:ln>
          </a:insideH>
        </a:tcBdr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28575" cmpd="sng">
              <a:solidFill>
                <a:schemeClr val="lt1"/>
              </a:solidFill>
            </a:ln>
          </a:top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28575" cmpd="sng">
              <a:solidFill>
                <a:schemeClr val="lt1"/>
              </a:solidFill>
            </a:ln>
          </a:bottom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/>
          </a:solidFill>
        </a:fill>
      </a:tcStyle>
    </a:firstRow>
  </a:tblStyle>
  <a:tblStyle styleId="{8411A1CE-DC70-4111-BB99-55EE5BAA7999}" styleName="Dr. Wieselhuber &amp; Partner Tabellenvorlage 2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rgbClr val="EAEDF3"/>
          </a:solidFill>
        </a:fill>
      </a:tcStyle>
    </a:band2H>
    <a:band1V>
      <a:tcStyle>
        <a:tcBdr/>
        <a:fill>
          <a:solidFill>
            <a:srgbClr val="EAEDF3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1"/>
              </a:solidFill>
            </a:ln>
          </a:left>
          <a:insideH>
            <a:ln w="12700" cmpd="sng">
              <a:solidFill>
                <a:schemeClr val="lt1"/>
              </a:solidFill>
            </a:ln>
          </a:insideH>
        </a:tcBdr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dk2"/>
      </a:tcTxStyle>
      <a:tcStyle>
        <a:tcBdr>
          <a:right>
            <a:ln w="12700" cmpd="sng">
              <a:solidFill>
                <a:schemeClr val="lt1"/>
              </a:solidFill>
            </a:ln>
          </a:right>
          <a:insideH>
            <a:ln w="12700" cmpd="sng">
              <a:solidFill>
                <a:schemeClr val="lt1"/>
              </a:solidFill>
            </a:ln>
          </a:insideH>
        </a:tcBdr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dk2"/>
      </a:tcTxStyle>
      <a:tcStyle>
        <a:tcBdr>
          <a:top>
            <a:ln w="28575" cmpd="sng">
              <a:solidFill>
                <a:schemeClr val="lt1"/>
              </a:solidFill>
            </a:ln>
          </a:top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28575" cmpd="sng">
              <a:solidFill>
                <a:schemeClr val="lt1"/>
              </a:solidFill>
            </a:ln>
          </a:bottom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/>
          </a:solidFill>
        </a:fill>
      </a:tcStyle>
    </a:firstRow>
  </a:tblStyle>
  <a:tblStyle styleId="{8411A1CE-DC70-4222-BB99-55EE5BAA7971}" styleName="Dr. Wieselhuber &amp; Partner Tabellenvorlage 3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noFill/>
            </a:ln>
          </a:insideH>
          <a:insideV>
            <a:ln w="9525" cmpd="sng">
              <a:solidFill>
                <a:schemeClr val="accent6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chemeClr val="lt1"/>
          </a:solidFill>
        </a:fill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2"/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righ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5">
              <a:lumMod val="20000"/>
              <a:lumOff val="80000"/>
            </a:schemeClr>
          </a:solidFill>
        </a:fill>
      </a:tcStyle>
    </a:lastCol>
    <a:firstCol>
      <a:tcTxStyle b="on">
        <a:fontRef idx="minor">
          <a:prstClr val="black"/>
        </a:fontRef>
        <a:schemeClr val="dk2"/>
      </a:tcTxStyle>
      <a:tcStyle>
        <a:tcBdr>
          <a:left>
            <a:ln w="9525" cmpd="sng">
              <a:solidFill>
                <a:schemeClr val="accent5">
                  <a:lumMod val="20000"/>
                  <a:lumOff val="8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5">
              <a:lumMod val="20000"/>
              <a:lumOff val="80000"/>
            </a:schemeClr>
          </a:solidFill>
        </a:fill>
      </a:tcStyle>
    </a:firstCol>
    <a:lastRow>
      <a:tcTxStyle b="on"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left>
          <a:right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bottom>
          <a:insideV>
            <a:ln w="9525" cmpd="sng">
              <a:solidFill>
                <a:schemeClr val="accent6"/>
              </a:solidFill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lastRow>
    <a:firstRow>
      <a:tcTxStyle b="on"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left>
          <a:right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right>
          <a:top>
            <a:ln w="12700" cmpd="sng">
              <a:solidFill>
                <a:schemeClr val="accent5">
                  <a:lumMod val="20000"/>
                  <a:lumOff val="80000"/>
                </a:schemeClr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V>
            <a:ln w="9525" cmpd="sng">
              <a:solidFill>
                <a:schemeClr val="accent6"/>
              </a:solidFill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firstRow>
  </a:tblStyle>
  <a:tblStyle styleId="{8411A1CE-DC70-4222-BB99-55EE5BAA0000}" styleName="Dr. Wieselhuber &amp; Partner Tabellenvorlage 4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noFill/>
            </a:ln>
          </a:insideH>
          <a:insideV>
            <a:ln w="9525" cmpd="sng">
              <a:solidFill>
                <a:schemeClr val="accent6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chemeClr val="lt1"/>
          </a:solidFill>
        </a:fill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2"/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5">
              <a:lumMod val="20000"/>
              <a:lumOff val="80000"/>
            </a:schemeClr>
          </a:solidFill>
        </a:fill>
      </a:tcStyle>
    </a:lastCol>
    <a:firstCol>
      <a:tcTxStyle b="on">
        <a:fontRef idx="minor">
          <a:prstClr val="black"/>
        </a:fontRef>
        <a:schemeClr val="dk2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5">
              <a:lumMod val="20000"/>
              <a:lumOff val="80000"/>
            </a:schemeClr>
          </a:solidFill>
        </a:fill>
      </a:tcStyle>
    </a:firstCol>
    <a:lastRow>
      <a:tcTxStyle b="on"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28575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V>
            <a:ln w="9525" cmpd="sng">
              <a:solidFill>
                <a:schemeClr val="lt1"/>
              </a:solidFill>
            </a:ln>
          </a:insideV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28575" cmpd="sng">
              <a:solidFill>
                <a:schemeClr val="lt1"/>
              </a:solidFill>
            </a:ln>
          </a:bottom>
          <a:insideV>
            <a:ln w="9525" cmpd="sng">
              <a:solidFill>
                <a:schemeClr val="lt1"/>
              </a:solidFill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96" y="120"/>
      </p:cViewPr>
      <p:guideLst>
        <p:guide orient="horz" pos="2115"/>
        <p:guide pos="2887"/>
        <p:guide orient="horz" pos="3725"/>
        <p:guide pos="52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222222222222223E-2"/>
          <c:y val="0.1875"/>
          <c:w val="0.84316239316239316"/>
          <c:h val="0.6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Sheet1!$A$1:$F$1</c:f>
              <c:numCache>
                <c:formatCode>General</c:formatCode>
                <c:ptCount val="6"/>
                <c:pt idx="0">
                  <c:v>9049.4</c:v>
                </c:pt>
                <c:pt idx="1">
                  <c:v>10213.700000000001</c:v>
                </c:pt>
                <c:pt idx="2">
                  <c:v>9012.9</c:v>
                </c:pt>
                <c:pt idx="3">
                  <c:v>9185</c:v>
                </c:pt>
                <c:pt idx="4">
                  <c:v>9966</c:v>
                </c:pt>
                <c:pt idx="5">
                  <c:v>9821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AC-4032-9D37-7BCCA93F6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84564767"/>
        <c:axId val="1"/>
      </c:barChart>
      <c:lineChart>
        <c:grouping val="standard"/>
        <c:varyColors val="0"/>
        <c:ser>
          <c:idx val="1"/>
          <c:order val="1"/>
          <c:spPr>
            <a:ln w="28575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AAC-4032-9D37-7BCCA93F68FF}"/>
                </c:ext>
              </c:extLst>
            </c:dLbl>
            <c:dLbl>
              <c:idx val="1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AAC-4032-9D37-7BCCA93F68FF}"/>
                </c:ext>
              </c:extLst>
            </c:dLbl>
            <c:dLbl>
              <c:idx val="2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AAC-4032-9D37-7BCCA93F68FF}"/>
                </c:ext>
              </c:extLst>
            </c:dLbl>
            <c:dLbl>
              <c:idx val="3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AAC-4032-9D37-7BCCA93F68FF}"/>
                </c:ext>
              </c:extLst>
            </c:dLbl>
            <c:dLbl>
              <c:idx val="4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AAC-4032-9D37-7BCCA93F68FF}"/>
                </c:ext>
              </c:extLst>
            </c:dLbl>
            <c:dLbl>
              <c:idx val="5"/>
              <c:layout>
                <c:manualLayout>
                  <c:x val="0"/>
                  <c:y val="-0.103794642857142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AAC-4032-9D37-7BCCA93F68F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0">
                  <c:v>317</c:v>
                </c:pt>
                <c:pt idx="1">
                  <c:v>316</c:v>
                </c:pt>
                <c:pt idx="2">
                  <c:v>310</c:v>
                </c:pt>
                <c:pt idx="3">
                  <c:v>310</c:v>
                </c:pt>
                <c:pt idx="4">
                  <c:v>303</c:v>
                </c:pt>
                <c:pt idx="5">
                  <c:v>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AAC-4032-9D37-7BCCA93F6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84564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de-DE"/>
          </a:p>
        </c:txPr>
        <c:crossAx val="684564767"/>
        <c:crosses val="min"/>
        <c:crossBetween val="between"/>
        <c:majorUnit val="1000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4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"/>
        <c:crosses val="max"/>
        <c:crossBetween val="between"/>
        <c:majorUnit val="1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07407407407407E-2"/>
          <c:y val="0.13447432762836187"/>
          <c:w val="0.85185185185185186"/>
          <c:h val="0.7310513447432762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E87-400E-9527-3DEE8F3617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E87-400E-9527-3DEE8F3617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E87-400E-9527-3DEE8F3617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E87-400E-9527-3DEE8F36172D}"/>
              </c:ext>
            </c:extLst>
          </c:dPt>
          <c:dPt>
            <c:idx val="4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E87-400E-9527-3DEE8F36172D}"/>
              </c:ext>
            </c:extLst>
          </c:dPt>
          <c:dLbls>
            <c:dLbl>
              <c:idx val="0"/>
              <c:layout>
                <c:manualLayout>
                  <c:x val="2.564102564102564E-2"/>
                  <c:y val="-1.100244498777506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E87-400E-9527-3DEE8F36172D}"/>
                </c:ext>
              </c:extLst>
            </c:dLbl>
            <c:dLbl>
              <c:idx val="1"/>
              <c:layout>
                <c:manualLayout>
                  <c:x val="1.1396011396011397E-2"/>
                  <c:y val="3.484107579462102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E87-400E-9527-3DEE8F36172D}"/>
                </c:ext>
              </c:extLst>
            </c:dLbl>
            <c:dLbl>
              <c:idx val="2"/>
              <c:layout>
                <c:manualLayout>
                  <c:x val="-2.2079772079772079E-2"/>
                  <c:y val="1.466992665036674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E87-400E-9527-3DEE8F36172D}"/>
                </c:ext>
              </c:extLst>
            </c:dLbl>
            <c:dLbl>
              <c:idx val="3"/>
              <c:layout>
                <c:manualLayout>
                  <c:x val="-5.1994301994301995E-2"/>
                  <c:y val="-5.501222493887530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E87-400E-9527-3DEE8F3617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Sheet1!$A$1:$A$5</c:f>
              <c:numCache>
                <c:formatCode>General</c:formatCode>
                <c:ptCount val="5"/>
                <c:pt idx="0">
                  <c:v>35.099999999999994</c:v>
                </c:pt>
                <c:pt idx="1">
                  <c:v>21.299999999999997</c:v>
                </c:pt>
                <c:pt idx="2">
                  <c:v>16.399999999999995</c:v>
                </c:pt>
                <c:pt idx="3">
                  <c:v>8.1999999999999975</c:v>
                </c:pt>
                <c:pt idx="4">
                  <c:v>18.999999999999996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87-400E-9527-3DEE8F361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708880923934688E-2"/>
          <c:y val="0.29570552147239265"/>
          <c:w val="0.95858223815213062"/>
          <c:h val="0.49815950920245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01226993865030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DC4-41A7-82DA-757AB19836FC}"/>
                </c:ext>
              </c:extLst>
            </c:dLbl>
            <c:dLbl>
              <c:idx val="1"/>
              <c:layout>
                <c:manualLayout>
                  <c:x val="0"/>
                  <c:y val="-0.223312883435582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DC4-41A7-82DA-757AB19836FC}"/>
                </c:ext>
              </c:extLst>
            </c:dLbl>
            <c:dLbl>
              <c:idx val="2"/>
              <c:layout>
                <c:manualLayout>
                  <c:x val="0"/>
                  <c:y val="-0.2110429447852760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DC4-41A7-82DA-757AB19836FC}"/>
                </c:ext>
              </c:extLst>
            </c:dLbl>
            <c:dLbl>
              <c:idx val="3"/>
              <c:layout>
                <c:manualLayout>
                  <c:x val="0"/>
                  <c:y val="-0.176687116564417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DC4-41A7-82DA-757AB19836FC}"/>
                </c:ext>
              </c:extLst>
            </c:dLbl>
            <c:dLbl>
              <c:idx val="4"/>
              <c:layout>
                <c:manualLayout>
                  <c:x val="0"/>
                  <c:y val="-0.1840490797546012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DC4-41A7-82DA-757AB19836FC}"/>
                </c:ext>
              </c:extLst>
            </c:dLbl>
            <c:dLbl>
              <c:idx val="5"/>
              <c:layout>
                <c:manualLayout>
                  <c:x val="0"/>
                  <c:y val="-0.174233128834355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DC4-41A7-82DA-757AB19836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18.2</c:v>
                </c:pt>
                <c:pt idx="1">
                  <c:v>21.3</c:v>
                </c:pt>
                <c:pt idx="2">
                  <c:v>19.2</c:v>
                </c:pt>
                <c:pt idx="3">
                  <c:v>16.3</c:v>
                </c:pt>
                <c:pt idx="4">
                  <c:v>16.8</c:v>
                </c:pt>
                <c:pt idx="5">
                  <c:v>16.044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C4-41A7-82DA-757AB19836FC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39877300613496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DC4-41A7-82DA-757AB19836FC}"/>
                </c:ext>
              </c:extLst>
            </c:dLbl>
            <c:dLbl>
              <c:idx val="1"/>
              <c:layout>
                <c:manualLayout>
                  <c:x val="0"/>
                  <c:y val="-0.333742331288343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DC4-41A7-82DA-757AB19836FC}"/>
                </c:ext>
              </c:extLst>
            </c:dLbl>
            <c:dLbl>
              <c:idx val="2"/>
              <c:layout>
                <c:manualLayout>
                  <c:x val="0"/>
                  <c:y val="-0.338650306748466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DC4-41A7-82DA-757AB19836FC}"/>
                </c:ext>
              </c:extLst>
            </c:dLbl>
            <c:dLbl>
              <c:idx val="3"/>
              <c:layout>
                <c:manualLayout>
                  <c:x val="0"/>
                  <c:y val="-0.328834355828220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EDC4-41A7-82DA-757AB19836FC}"/>
                </c:ext>
              </c:extLst>
            </c:dLbl>
            <c:dLbl>
              <c:idx val="4"/>
              <c:layout>
                <c:manualLayout>
                  <c:x val="0"/>
                  <c:y val="-0.3263803680981595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DC4-41A7-82DA-757AB19836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0">
                  <c:v>40</c:v>
                </c:pt>
                <c:pt idx="1">
                  <c:v>38.900000000000006</c:v>
                </c:pt>
                <c:pt idx="2">
                  <c:v>39.700000000000003</c:v>
                </c:pt>
                <c:pt idx="3">
                  <c:v>38.099999999999994</c:v>
                </c:pt>
                <c:pt idx="4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DC4-41A7-82DA-757AB19836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97866080"/>
        <c:axId val="1"/>
      </c:barChart>
      <c:catAx>
        <c:axId val="11978660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78660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443708609271523E-2"/>
          <c:y val="3.9483675018982534E-2"/>
          <c:w val="0.93112582781456954"/>
          <c:h val="0.9210326499620349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21.4</c:v>
                </c:pt>
                <c:pt idx="1">
                  <c:v>13.600000000000001</c:v>
                </c:pt>
                <c:pt idx="2">
                  <c:v>10.4</c:v>
                </c:pt>
                <c:pt idx="3">
                  <c:v>9.9</c:v>
                </c:pt>
                <c:pt idx="4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7-439F-99B9-2CAC6594F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6850192"/>
        <c:axId val="1"/>
      </c:barChart>
      <c:catAx>
        <c:axId val="28685019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868501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C0CF-51B2-4F4E-84DF-B05BCC37E0D8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E1ED3-0D2C-49D4-9CE0-C0C5FCF80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4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E0C2-3822-607E-5F7A-0006D4027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B709F34-6CDB-EDB7-E016-F056436C2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A322248-E266-C396-BDF7-DFFF7C814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https://plasticseurope.org/wp-content/uploads/2025/09/PE_TheFacts_25_digital-1pager-scrollable.pdf</a:t>
            </a:r>
          </a:p>
          <a:p>
            <a:r>
              <a:rPr lang="de-DE"/>
              <a:t>https://de.statista.com/statistik/daten/studie/167076/umfrage/produktionsmenge-der-deutschen-kunststoffindustrie-seit-2006/</a:t>
            </a:r>
          </a:p>
          <a:p>
            <a:r>
              <a:rPr lang="de-DE"/>
              <a:t>https://plasticseurope.org/de/wp-content/uploads/sites/3/2026/03/2_Wirtschaftspressekonferenz_2026_Slides.pdf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2D52A9-5C16-94DC-F445-649B78155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E1ED3-0D2C-49D4-9CE0-C0C5FCF8079B}" type="slidenum">
              <a:rPr lang="de-DE" smtClean="0"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70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1275494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624" imgH="623" progId="TCLayout.ActiveDocument.1">
                  <p:embed/>
                </p:oleObj>
              </mc:Choice>
              <mc:Fallback>
                <p:oleObj name="think-cell Folie" r:id="rId3" imgW="624" imgH="62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uppieren 13"/>
          <p:cNvGrpSpPr/>
          <p:nvPr/>
        </p:nvGrpSpPr>
        <p:grpSpPr>
          <a:xfrm>
            <a:off x="1" y="2335289"/>
            <a:ext cx="7813382" cy="1076400"/>
            <a:chOff x="0" y="2308356"/>
            <a:chExt cx="6348373" cy="1076400"/>
          </a:xfrm>
          <a:solidFill>
            <a:schemeClr val="accent1"/>
          </a:solidFill>
        </p:grpSpPr>
        <p:sp>
          <p:nvSpPr>
            <p:cNvPr id="15" name="Rechteck 14"/>
            <p:cNvSpPr/>
            <p:nvPr/>
          </p:nvSpPr>
          <p:spPr>
            <a:xfrm>
              <a:off x="0" y="2308356"/>
              <a:ext cx="5691600" cy="1076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  <p:sp>
          <p:nvSpPr>
            <p:cNvPr id="16" name="Gleichschenkliges Dreieck 15"/>
            <p:cNvSpPr/>
            <p:nvPr/>
          </p:nvSpPr>
          <p:spPr>
            <a:xfrm rot="10800000">
              <a:off x="4956959" y="2308356"/>
              <a:ext cx="1391414" cy="1076400"/>
            </a:xfrm>
            <a:prstGeom prst="triangle">
              <a:avLst>
                <a:gd name="adj" fmla="val 470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77329" y="2723332"/>
            <a:ext cx="5850000" cy="340765"/>
          </a:xfrm>
        </p:spPr>
        <p:txBody>
          <a:bodyPr vert="horz"/>
          <a:lstStyle>
            <a:lvl1pPr>
              <a:defRPr sz="3000" b="0">
                <a:solidFill>
                  <a:schemeClr val="bg1"/>
                </a:solidFill>
                <a:latin typeface="Goudy Old Style" panose="02020502050305020303" pitchFamily="18" charset="0"/>
              </a:defRPr>
            </a:lvl1pPr>
          </a:lstStyle>
          <a:p>
            <a:r>
              <a:rPr lang="de-DE"/>
              <a:t>Berichtstitel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65841" y="3508397"/>
            <a:ext cx="5850000" cy="340765"/>
          </a:xfrm>
        </p:spPr>
        <p:txBody>
          <a:bodyPr tIns="36000" anchor="t" anchorCtr="0">
            <a:noAutofit/>
          </a:bodyPr>
          <a:lstStyle>
            <a:lvl1pPr marL="0" indent="0" algn="l">
              <a:buNone/>
              <a:defRPr sz="1800" b="0" baseline="0">
                <a:solidFill>
                  <a:schemeClr val="tx2"/>
                </a:solidFill>
                <a:latin typeface="Goudy Old Style" panose="02020502050305020303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Untertitel</a:t>
            </a:r>
          </a:p>
        </p:txBody>
      </p:sp>
      <p:sp>
        <p:nvSpPr>
          <p:cNvPr id="13" name="Place-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1" y="5419665"/>
            <a:ext cx="5850000" cy="292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aseline="0">
                <a:solidFill>
                  <a:schemeClr val="tx2"/>
                </a:solidFill>
                <a:latin typeface="Goudy Old Style" panose="02020502050305020303" pitchFamily="18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Ort, Datum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4"/>
          </p:nvPr>
        </p:nvSpPr>
        <p:spPr>
          <a:xfrm>
            <a:off x="7603058" y="2335289"/>
            <a:ext cx="2184970" cy="1076400"/>
          </a:xfrm>
          <a:custGeom>
            <a:avLst/>
            <a:gdLst>
              <a:gd name="connsiteX0" fmla="*/ 657713 w 1775288"/>
              <a:gd name="connsiteY0" fmla="*/ 0 h 1076400"/>
              <a:gd name="connsiteX1" fmla="*/ 1775288 w 1775288"/>
              <a:gd name="connsiteY1" fmla="*/ 0 h 1076400"/>
              <a:gd name="connsiteX2" fmla="*/ 1117576 w 1775288"/>
              <a:gd name="connsiteY2" fmla="*/ 1076400 h 1076400"/>
              <a:gd name="connsiteX3" fmla="*/ 0 w 1775288"/>
              <a:gd name="connsiteY3" fmla="*/ 1076400 h 10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5288" h="1076400">
                <a:moveTo>
                  <a:pt x="657713" y="0"/>
                </a:moveTo>
                <a:lnTo>
                  <a:pt x="1775288" y="0"/>
                </a:lnTo>
                <a:lnTo>
                  <a:pt x="1117576" y="1076400"/>
                </a:lnTo>
                <a:lnTo>
                  <a:pt x="0" y="1076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16"/>
          <p:cNvSpPr>
            <a:spLocks noGrp="1"/>
          </p:cNvSpPr>
          <p:nvPr>
            <p:ph type="pic" sz="quarter" idx="15"/>
          </p:nvPr>
        </p:nvSpPr>
        <p:spPr>
          <a:xfrm>
            <a:off x="9570530" y="2335289"/>
            <a:ext cx="2621471" cy="1076400"/>
          </a:xfrm>
          <a:custGeom>
            <a:avLst/>
            <a:gdLst>
              <a:gd name="connsiteX0" fmla="*/ 657712 w 2129945"/>
              <a:gd name="connsiteY0" fmla="*/ 0 h 1076400"/>
              <a:gd name="connsiteX1" fmla="*/ 1640995 w 2129945"/>
              <a:gd name="connsiteY1" fmla="*/ 0 h 1076400"/>
              <a:gd name="connsiteX2" fmla="*/ 2121012 w 2129945"/>
              <a:gd name="connsiteY2" fmla="*/ 0 h 1076400"/>
              <a:gd name="connsiteX3" fmla="*/ 2129945 w 2129945"/>
              <a:gd name="connsiteY3" fmla="*/ 0 h 1076400"/>
              <a:gd name="connsiteX4" fmla="*/ 2129945 w 2129945"/>
              <a:gd name="connsiteY4" fmla="*/ 1076400 h 1076400"/>
              <a:gd name="connsiteX5" fmla="*/ 2121012 w 2129945"/>
              <a:gd name="connsiteY5" fmla="*/ 1076400 h 1076400"/>
              <a:gd name="connsiteX6" fmla="*/ 1640995 w 2129945"/>
              <a:gd name="connsiteY6" fmla="*/ 1076400 h 1076400"/>
              <a:gd name="connsiteX7" fmla="*/ 0 w 2129945"/>
              <a:gd name="connsiteY7" fmla="*/ 1076400 h 10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9945" h="1076400">
                <a:moveTo>
                  <a:pt x="657712" y="0"/>
                </a:moveTo>
                <a:lnTo>
                  <a:pt x="1640995" y="0"/>
                </a:lnTo>
                <a:lnTo>
                  <a:pt x="2121012" y="0"/>
                </a:lnTo>
                <a:lnTo>
                  <a:pt x="2129945" y="0"/>
                </a:lnTo>
                <a:lnTo>
                  <a:pt x="2129945" y="1076400"/>
                </a:lnTo>
                <a:lnTo>
                  <a:pt x="2121012" y="1076400"/>
                </a:lnTo>
                <a:lnTo>
                  <a:pt x="1640995" y="1076400"/>
                </a:lnTo>
                <a:lnTo>
                  <a:pt x="0" y="107640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9" name="Picture 24" descr="G:\W&amp;P-Knowledge-Pool\Allgemeines\4.Marketing\Logos\W&amp;P-Signet-blau.jpg">
            <a:extLst>
              <a:ext uri="{FF2B5EF4-FFF2-40B4-BE49-F238E27FC236}">
                <a16:creationId xmlns:a16="http://schemas.microsoft.com/office/drawing/2014/main" id="{3D57D3AE-574C-4926-9C5E-C035A0544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82" y="301153"/>
            <a:ext cx="2567271" cy="70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57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4823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0" y="1196975"/>
            <a:ext cx="11520578" cy="504031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02330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2" y="1196975"/>
            <a:ext cx="5490636" cy="504031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5305" y="1196975"/>
            <a:ext cx="5490636" cy="504031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94867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5998" y="1628751"/>
            <a:ext cx="5489941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752"/>
            <a:ext cx="5484774" cy="432000"/>
          </a:xfrm>
        </p:spPr>
        <p:txBody>
          <a:bodyPr lIns="79200" rIns="792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365998" y="1196752"/>
            <a:ext cx="5489941" cy="432000"/>
          </a:xfrm>
        </p:spPr>
        <p:txBody>
          <a:bodyPr lIns="75600" rIns="756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7" hasCustomPrompt="1"/>
          </p:nvPr>
        </p:nvSpPr>
        <p:spPr>
          <a:xfrm>
            <a:off x="336550" y="1628776"/>
            <a:ext cx="5484774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cxnSp>
        <p:nvCxnSpPr>
          <p:cNvPr id="17" name="Gerade Verbindung 16"/>
          <p:cNvCxnSpPr>
            <a:cxnSpLocks/>
          </p:cNvCxnSpPr>
          <p:nvPr/>
        </p:nvCxnSpPr>
        <p:spPr>
          <a:xfrm flipV="1">
            <a:off x="332184" y="1628803"/>
            <a:ext cx="5488651" cy="3544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>
            <a:cxnSpLocks/>
          </p:cNvCxnSpPr>
          <p:nvPr/>
        </p:nvCxnSpPr>
        <p:spPr>
          <a:xfrm>
            <a:off x="336062" y="1196752"/>
            <a:ext cx="885" cy="43559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>
            <a:cxnSpLocks/>
          </p:cNvCxnSpPr>
          <p:nvPr/>
        </p:nvCxnSpPr>
        <p:spPr>
          <a:xfrm>
            <a:off x="6356747" y="1626394"/>
            <a:ext cx="5498703" cy="450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6361394" y="1198898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2919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le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6000" y="1628751"/>
            <a:ext cx="5489939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752"/>
            <a:ext cx="5489937" cy="432000"/>
          </a:xfrm>
        </p:spPr>
        <p:txBody>
          <a:bodyPr lIns="79200" rIns="792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3" name="Gerade Verbindung 22"/>
          <p:cNvCxnSpPr/>
          <p:nvPr/>
        </p:nvCxnSpPr>
        <p:spPr>
          <a:xfrm>
            <a:off x="336062" y="1628752"/>
            <a:ext cx="542505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366000" y="1196752"/>
            <a:ext cx="5489939" cy="432000"/>
          </a:xfrm>
        </p:spPr>
        <p:txBody>
          <a:bodyPr lIns="75600" rIns="756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5" name="Gerade Verbindung 14"/>
          <p:cNvCxnSpPr>
            <a:cxnSpLocks/>
          </p:cNvCxnSpPr>
          <p:nvPr/>
        </p:nvCxnSpPr>
        <p:spPr>
          <a:xfrm flipV="1">
            <a:off x="6372499" y="1628751"/>
            <a:ext cx="5482951" cy="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>
            <a:cxnSpLocks/>
          </p:cNvCxnSpPr>
          <p:nvPr/>
        </p:nvCxnSpPr>
        <p:spPr>
          <a:xfrm>
            <a:off x="336062" y="1628752"/>
            <a:ext cx="5489936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6369919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abellenplatzhalter 3"/>
          <p:cNvSpPr>
            <a:spLocks noGrp="1"/>
          </p:cNvSpPr>
          <p:nvPr>
            <p:ph type="tbl" sz="quarter" idx="18"/>
          </p:nvPr>
        </p:nvSpPr>
        <p:spPr>
          <a:xfrm>
            <a:off x="336061" y="1760875"/>
            <a:ext cx="5489937" cy="447641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21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60080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abellen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752"/>
            <a:ext cx="5488690" cy="432000"/>
          </a:xfrm>
        </p:spPr>
        <p:txBody>
          <a:bodyPr lIns="79200" rIns="792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4" name="Gerade Verbindung 23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365998" y="1196752"/>
            <a:ext cx="5489941" cy="432000"/>
          </a:xfrm>
        </p:spPr>
        <p:txBody>
          <a:bodyPr lIns="75600" rIns="756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7" name="Gerade Verbindung 16"/>
          <p:cNvCxnSpPr>
            <a:cxnSpLocks/>
          </p:cNvCxnSpPr>
          <p:nvPr/>
        </p:nvCxnSpPr>
        <p:spPr>
          <a:xfrm>
            <a:off x="332184" y="1625203"/>
            <a:ext cx="5490490" cy="315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>
            <a:cxnSpLocks/>
          </p:cNvCxnSpPr>
          <p:nvPr/>
        </p:nvCxnSpPr>
        <p:spPr>
          <a:xfrm flipV="1">
            <a:off x="6362700" y="1628752"/>
            <a:ext cx="5492750" cy="359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>
            <a:cxnSpLocks/>
          </p:cNvCxnSpPr>
          <p:nvPr/>
        </p:nvCxnSpPr>
        <p:spPr>
          <a:xfrm>
            <a:off x="6363891" y="1196578"/>
            <a:ext cx="1190" cy="43934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abellenplatzhalter 3"/>
          <p:cNvSpPr>
            <a:spLocks noGrp="1"/>
          </p:cNvSpPr>
          <p:nvPr>
            <p:ph type="tbl" sz="quarter" idx="18"/>
          </p:nvPr>
        </p:nvSpPr>
        <p:spPr>
          <a:xfrm>
            <a:off x="332146" y="1760875"/>
            <a:ext cx="5488690" cy="447641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21" name="Tabellenplatzhalter 3"/>
          <p:cNvSpPr>
            <a:spLocks noGrp="1"/>
          </p:cNvSpPr>
          <p:nvPr>
            <p:ph type="tbl" sz="quarter" idx="19"/>
          </p:nvPr>
        </p:nvSpPr>
        <p:spPr>
          <a:xfrm>
            <a:off x="6365998" y="1760875"/>
            <a:ext cx="5489941" cy="447641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73924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mit Erläut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2" y="1196753"/>
            <a:ext cx="5485474" cy="5040535"/>
          </a:xfrm>
        </p:spPr>
        <p:txBody>
          <a:bodyPr lIns="75600" tIns="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5998" y="1628751"/>
            <a:ext cx="5489943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365998" y="1196752"/>
            <a:ext cx="5489943" cy="432000"/>
          </a:xfrm>
        </p:spPr>
        <p:txBody>
          <a:bodyPr lIns="79200" rIns="79200" anchor="ctr"/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0" name="Gerade Verbindung 9"/>
          <p:cNvCxnSpPr>
            <a:cxnSpLocks/>
          </p:cNvCxnSpPr>
          <p:nvPr/>
        </p:nvCxnSpPr>
        <p:spPr>
          <a:xfrm flipV="1">
            <a:off x="6362700" y="1628326"/>
            <a:ext cx="5492750" cy="283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>
            <a:cxnSpLocks/>
          </p:cNvCxnSpPr>
          <p:nvPr/>
        </p:nvCxnSpPr>
        <p:spPr>
          <a:xfrm flipH="1">
            <a:off x="6365081" y="1196326"/>
            <a:ext cx="916" cy="438402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40240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(2/3 zu 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1" y="1196975"/>
            <a:ext cx="7521154" cy="504031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396516" y="1196975"/>
            <a:ext cx="3459422" cy="504031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30376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mit Überschrift (2/3 zu 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2" y="1628751"/>
            <a:ext cx="7519425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394797" y="1628751"/>
            <a:ext cx="3461142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94796" y="1196752"/>
            <a:ext cx="346114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0" name="Gerade Verbindung 19"/>
          <p:cNvCxnSpPr>
            <a:cxnSpLocks/>
          </p:cNvCxnSpPr>
          <p:nvPr/>
        </p:nvCxnSpPr>
        <p:spPr>
          <a:xfrm flipV="1">
            <a:off x="8390334" y="1628751"/>
            <a:ext cx="3460445" cy="121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/>
          <p:cNvCxnSpPr/>
          <p:nvPr/>
        </p:nvCxnSpPr>
        <p:spPr>
          <a:xfrm>
            <a:off x="8394796" y="1196751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3" y="1196752"/>
            <a:ext cx="7519419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3" name="Gerade Verbindung 22"/>
          <p:cNvCxnSpPr>
            <a:cxnSpLocks/>
          </p:cNvCxnSpPr>
          <p:nvPr/>
        </p:nvCxnSpPr>
        <p:spPr>
          <a:xfrm flipV="1">
            <a:off x="330994" y="1628753"/>
            <a:ext cx="7523788" cy="1213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/>
        </p:nvCxnSpPr>
        <p:spPr>
          <a:xfrm>
            <a:off x="335364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77547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 mit Erläuterung (2/3 zu 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5363" y="1196753"/>
            <a:ext cx="7515943" cy="5040535"/>
          </a:xfrm>
        </p:spPr>
        <p:txBody>
          <a:bodyPr lIns="75600" tIns="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8396468" y="1628751"/>
            <a:ext cx="3459470" cy="460853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97167" y="1196752"/>
            <a:ext cx="345947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7" name="Gerade Verbindung 16"/>
          <p:cNvCxnSpPr>
            <a:cxnSpLocks/>
          </p:cNvCxnSpPr>
          <p:nvPr/>
        </p:nvCxnSpPr>
        <p:spPr>
          <a:xfrm>
            <a:off x="8391306" y="1628752"/>
            <a:ext cx="3459473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/>
        </p:nvCxnSpPr>
        <p:spPr>
          <a:xfrm>
            <a:off x="8395621" y="12004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851487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nhalte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6061" y="1628751"/>
            <a:ext cx="5484742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7302" y="1628751"/>
            <a:ext cx="5488638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367302" y="1196752"/>
            <a:ext cx="548863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752"/>
            <a:ext cx="5484742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4" name="Gerade Verbindung 23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>
            <a:spLocks noGrp="1"/>
          </p:cNvSpPr>
          <p:nvPr>
            <p:ph idx="16" hasCustomPrompt="1"/>
          </p:nvPr>
        </p:nvSpPr>
        <p:spPr>
          <a:xfrm>
            <a:off x="335366" y="4410143"/>
            <a:ext cx="5491237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7" hasCustomPrompt="1"/>
          </p:nvPr>
        </p:nvSpPr>
        <p:spPr>
          <a:xfrm>
            <a:off x="6364008" y="4410143"/>
            <a:ext cx="5491932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364005" y="3978144"/>
            <a:ext cx="549193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26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35365" y="3978144"/>
            <a:ext cx="5491236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7" name="Gerade Verbindung 26"/>
          <p:cNvCxnSpPr/>
          <p:nvPr/>
        </p:nvCxnSpPr>
        <p:spPr>
          <a:xfrm>
            <a:off x="335368" y="4410144"/>
            <a:ext cx="5425399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335366" y="3978144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>
            <a:cxnSpLocks/>
          </p:cNvCxnSpPr>
          <p:nvPr/>
        </p:nvCxnSpPr>
        <p:spPr>
          <a:xfrm>
            <a:off x="6364376" y="1626989"/>
            <a:ext cx="5491868" cy="59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>
          <a:xfrm>
            <a:off x="6368617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>
            <a:cxnSpLocks/>
          </p:cNvCxnSpPr>
          <p:nvPr/>
        </p:nvCxnSpPr>
        <p:spPr>
          <a:xfrm>
            <a:off x="332184" y="1627584"/>
            <a:ext cx="5489972" cy="2382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>
            <a:cxnSpLocks/>
          </p:cNvCxnSpPr>
          <p:nvPr/>
        </p:nvCxnSpPr>
        <p:spPr>
          <a:xfrm>
            <a:off x="6368269" y="4410143"/>
            <a:ext cx="548837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>
            <a:off x="6368267" y="3978143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>
            <a:cxnSpLocks/>
          </p:cNvCxnSpPr>
          <p:nvPr/>
        </p:nvCxnSpPr>
        <p:spPr>
          <a:xfrm>
            <a:off x="335368" y="4410144"/>
            <a:ext cx="5491933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335366" y="3978144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375463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Diagramme 1 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6061" y="1628751"/>
            <a:ext cx="5484774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6366000" y="1628751"/>
            <a:ext cx="5489939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366000" y="1196752"/>
            <a:ext cx="5489939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752"/>
            <a:ext cx="5484774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4" name="Gerade Verbindung 23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>
            <a:spLocks noGrp="1"/>
          </p:cNvSpPr>
          <p:nvPr>
            <p:ph idx="16" hasCustomPrompt="1"/>
          </p:nvPr>
        </p:nvSpPr>
        <p:spPr>
          <a:xfrm>
            <a:off x="335366" y="4410143"/>
            <a:ext cx="5484771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6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35365" y="3978144"/>
            <a:ext cx="5484770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7" name="Gerade Verbindung 26"/>
          <p:cNvCxnSpPr/>
          <p:nvPr/>
        </p:nvCxnSpPr>
        <p:spPr>
          <a:xfrm>
            <a:off x="335368" y="4410144"/>
            <a:ext cx="5425399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335366" y="3978144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>
            <a:cxnSpLocks/>
          </p:cNvCxnSpPr>
          <p:nvPr/>
        </p:nvCxnSpPr>
        <p:spPr>
          <a:xfrm>
            <a:off x="6361509" y="1628775"/>
            <a:ext cx="5493941" cy="2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>
          <a:xfrm>
            <a:off x="6366000" y="1196975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>
            <a:cxnSpLocks/>
          </p:cNvCxnSpPr>
          <p:nvPr/>
        </p:nvCxnSpPr>
        <p:spPr>
          <a:xfrm>
            <a:off x="332184" y="1627584"/>
            <a:ext cx="5491163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>
            <a:cxnSpLocks/>
          </p:cNvCxnSpPr>
          <p:nvPr/>
        </p:nvCxnSpPr>
        <p:spPr>
          <a:xfrm>
            <a:off x="332184" y="4408884"/>
            <a:ext cx="5487951" cy="126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335366" y="3978144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30489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Schild enthält.&#10;&#10;Automatisch generierte Beschreibung">
            <a:extLst>
              <a:ext uri="{FF2B5EF4-FFF2-40B4-BE49-F238E27FC236}">
                <a16:creationId xmlns:a16="http://schemas.microsoft.com/office/drawing/2014/main" id="{C6ED43FE-E68F-4E74-95CD-FA0D76E09A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77" y="5463858"/>
            <a:ext cx="2758446" cy="844298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EB0E4BB-47B0-4E12-B4C8-9A9E0864C55F}"/>
              </a:ext>
            </a:extLst>
          </p:cNvPr>
          <p:cNvGrpSpPr/>
          <p:nvPr/>
        </p:nvGrpSpPr>
        <p:grpSpPr>
          <a:xfrm>
            <a:off x="0" y="756082"/>
            <a:ext cx="5652482" cy="714141"/>
            <a:chOff x="0" y="756082"/>
            <a:chExt cx="5652482" cy="71414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81E9DDF-3403-4766-8887-F9E46DB88173}"/>
                </a:ext>
              </a:extLst>
            </p:cNvPr>
            <p:cNvSpPr/>
            <p:nvPr/>
          </p:nvSpPr>
          <p:spPr bwMode="gray">
            <a:xfrm>
              <a:off x="0" y="756082"/>
              <a:ext cx="5320205" cy="713154"/>
            </a:xfrm>
            <a:prstGeom prst="rect">
              <a:avLst/>
            </a:prstGeom>
            <a:solidFill>
              <a:srgbClr val="0029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  <p:sp>
          <p:nvSpPr>
            <p:cNvPr id="16" name="Gleichschenkliges Dreieck 15">
              <a:extLst>
                <a:ext uri="{FF2B5EF4-FFF2-40B4-BE49-F238E27FC236}">
                  <a16:creationId xmlns:a16="http://schemas.microsoft.com/office/drawing/2014/main" id="{D65F6542-F512-4CA5-8B46-818F4088B3D5}"/>
                </a:ext>
              </a:extLst>
            </p:cNvPr>
            <p:cNvSpPr/>
            <p:nvPr/>
          </p:nvSpPr>
          <p:spPr bwMode="gray">
            <a:xfrm rot="10800000">
              <a:off x="5290708" y="757069"/>
              <a:ext cx="361774" cy="713154"/>
            </a:xfrm>
            <a:prstGeom prst="triangle">
              <a:avLst>
                <a:gd name="adj" fmla="val 92187"/>
              </a:avLst>
            </a:prstGeom>
            <a:solidFill>
              <a:srgbClr val="0029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3A1A8AA2-FC35-4FEB-84CF-BC84EB41DB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6087" y="755671"/>
            <a:ext cx="4874117" cy="7131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anchor="ctr">
            <a:noAutofit/>
          </a:bodyPr>
          <a:lstStyle/>
          <a:p>
            <a:pPr algn="l" defTabSz="773882">
              <a:lnSpc>
                <a:spcPct val="90000"/>
              </a:lnSpc>
            </a:pPr>
            <a:r>
              <a:rPr lang="de-DE" sz="2200">
                <a:solidFill>
                  <a:schemeClr val="bg1"/>
                </a:solidFill>
                <a:latin typeface="Goudy Old Style" panose="02020502050305020303" pitchFamily="18" charset="0"/>
              </a:rPr>
              <a:t>Perspektiven eröffnen – Zukunft gestalten 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B75D647-EFEB-4B18-8077-57D58320466D}"/>
              </a:ext>
            </a:extLst>
          </p:cNvPr>
          <p:cNvSpPr txBox="1">
            <a:spLocks/>
          </p:cNvSpPr>
          <p:nvPr/>
        </p:nvSpPr>
        <p:spPr>
          <a:xfrm>
            <a:off x="5287912" y="6414445"/>
            <a:ext cx="1662704" cy="374127"/>
          </a:xfrm>
          <a:prstGeom prst="rect">
            <a:avLst/>
          </a:prstGeom>
        </p:spPr>
        <p:txBody>
          <a:bodyPr vert="horz" lIns="75600" tIns="0" rIns="7560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de-DE" sz="900" u="none">
                <a:solidFill>
                  <a:schemeClr val="accent6">
                    <a:lumMod val="50000"/>
                  </a:schemeClr>
                </a:solidFill>
                <a:latin typeface="+mn-lt"/>
              </a:rPr>
              <a:t>info@wieselhuber.de</a:t>
            </a:r>
          </a:p>
          <a:p>
            <a:pPr marL="0" indent="0" algn="ctr">
              <a:buFontTx/>
              <a:buNone/>
            </a:pPr>
            <a:r>
              <a:rPr lang="de-DE" sz="900">
                <a:solidFill>
                  <a:schemeClr val="accent6">
                    <a:lumMod val="50000"/>
                  </a:schemeClr>
                </a:solidFill>
                <a:latin typeface="+mn-lt"/>
              </a:rPr>
              <a:t>www.wieselhuber.de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2C1540-E90A-4C5C-BB5E-F9305F243623}"/>
              </a:ext>
            </a:extLst>
          </p:cNvPr>
          <p:cNvSpPr txBox="1"/>
          <p:nvPr/>
        </p:nvSpPr>
        <p:spPr>
          <a:xfrm>
            <a:off x="456360" y="1988615"/>
            <a:ext cx="2592288" cy="32403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75600" rIns="75600" bIns="75600" rtlCol="0">
            <a:noAutofit/>
          </a:bodyPr>
          <a:lstStyle/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>
                <a:solidFill>
                  <a:srgbClr val="63686A"/>
                </a:solidFill>
                <a:latin typeface="Goudy Old Style" panose="02020502050305020303" pitchFamily="18" charset="0"/>
              </a:rPr>
              <a:t>STRATEGIE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>
                <a:solidFill>
                  <a:srgbClr val="63686A"/>
                </a:solidFill>
                <a:latin typeface="Goudy Old Style" panose="02020502050305020303" pitchFamily="18" charset="0"/>
              </a:rPr>
              <a:t>INNOVATION</a:t>
            </a: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 &amp; NEW BUSINESS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DIGITALISIERUNG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FÜHRUNG &amp; ORGANISATION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MARKETING &amp; VERTRIEB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OPERATIONS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CORPORATE RESTRUCTURING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MERGER &amp; ACQUISITIONS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FINANCE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INSOLVENZBERATUNG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de-DE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CONTROLLING</a:t>
            </a:r>
            <a:endParaRPr lang="de-DE" sz="1200" b="0">
              <a:solidFill>
                <a:srgbClr val="63686A"/>
              </a:solidFill>
              <a:latin typeface="Goudy Old Style" panose="02020502050305020303" pitchFamily="18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F67214B-76EC-48EB-89D0-6582A8DC5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881" y="495662"/>
            <a:ext cx="2839725" cy="1282634"/>
          </a:xfrm>
          <a:prstGeom prst="rect">
            <a:avLst/>
          </a:prstGeom>
        </p:spPr>
      </p:pic>
      <p:pic>
        <p:nvPicPr>
          <p:cNvPr id="5" name="Grafik 4" descr="Ein Bild, das Text, Screenshot, Design enthält.&#10;&#10;Automatisch generierte Beschreibung">
            <a:extLst>
              <a:ext uri="{FF2B5EF4-FFF2-40B4-BE49-F238E27FC236}">
                <a16:creationId xmlns:a16="http://schemas.microsoft.com/office/drawing/2014/main" id="{69B02138-AF56-F160-8AEC-1137D292A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0" t="33504" r="6126" b="25443"/>
          <a:stretch/>
        </p:blipFill>
        <p:spPr>
          <a:xfrm>
            <a:off x="5739492" y="1988615"/>
            <a:ext cx="6122508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26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seite ENGL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Schild enthält.&#10;&#10;Automatisch generierte Beschreibung">
            <a:extLst>
              <a:ext uri="{FF2B5EF4-FFF2-40B4-BE49-F238E27FC236}">
                <a16:creationId xmlns:a16="http://schemas.microsoft.com/office/drawing/2014/main" id="{C6ED43FE-E68F-4E74-95CD-FA0D76E09A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77" y="5463858"/>
            <a:ext cx="2758446" cy="844298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D8A2153-0D95-4CDA-902E-8FD787E2CA21}"/>
              </a:ext>
            </a:extLst>
          </p:cNvPr>
          <p:cNvGrpSpPr/>
          <p:nvPr/>
        </p:nvGrpSpPr>
        <p:grpSpPr>
          <a:xfrm>
            <a:off x="0" y="756082"/>
            <a:ext cx="5652482" cy="714141"/>
            <a:chOff x="0" y="756082"/>
            <a:chExt cx="5652482" cy="71414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81E9DDF-3403-4766-8887-F9E46DB88173}"/>
                </a:ext>
              </a:extLst>
            </p:cNvPr>
            <p:cNvSpPr/>
            <p:nvPr/>
          </p:nvSpPr>
          <p:spPr bwMode="gray">
            <a:xfrm>
              <a:off x="0" y="756082"/>
              <a:ext cx="5320205" cy="713154"/>
            </a:xfrm>
            <a:prstGeom prst="rect">
              <a:avLst/>
            </a:prstGeom>
            <a:solidFill>
              <a:srgbClr val="0029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  <p:sp>
          <p:nvSpPr>
            <p:cNvPr id="16" name="Gleichschenkliges Dreieck 15">
              <a:extLst>
                <a:ext uri="{FF2B5EF4-FFF2-40B4-BE49-F238E27FC236}">
                  <a16:creationId xmlns:a16="http://schemas.microsoft.com/office/drawing/2014/main" id="{D65F6542-F512-4CA5-8B46-818F4088B3D5}"/>
                </a:ext>
              </a:extLst>
            </p:cNvPr>
            <p:cNvSpPr/>
            <p:nvPr/>
          </p:nvSpPr>
          <p:spPr bwMode="gray">
            <a:xfrm rot="10800000">
              <a:off x="5290708" y="757069"/>
              <a:ext cx="361774" cy="713154"/>
            </a:xfrm>
            <a:prstGeom prst="triangle">
              <a:avLst>
                <a:gd name="adj" fmla="val 92187"/>
              </a:avLst>
            </a:prstGeom>
            <a:solidFill>
              <a:srgbClr val="0029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" tIns="75600" rIns="75600" bIns="75600" rtlCol="0" anchor="ctr"/>
            <a:lstStyle/>
            <a:p>
              <a:pPr algn="ctr"/>
              <a:endParaRPr lang="de-DE" sz="1400" b="1" err="1">
                <a:solidFill>
                  <a:schemeClr val="tx2"/>
                </a:solidFill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3A1A8AA2-FC35-4FEB-84CF-BC84EB41DB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6087" y="760808"/>
            <a:ext cx="4874117" cy="7131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anchor="ctr">
            <a:noAutofit/>
          </a:bodyPr>
          <a:lstStyle/>
          <a:p>
            <a:pPr algn="l" defTabSz="773882">
              <a:lnSpc>
                <a:spcPct val="90000"/>
              </a:lnSpc>
            </a:pPr>
            <a:r>
              <a:rPr lang="de-DE" sz="2200" err="1">
                <a:solidFill>
                  <a:schemeClr val="bg1"/>
                </a:solidFill>
                <a:latin typeface="Goudy Old Style" panose="02020502050305020303" pitchFamily="18" charset="0"/>
              </a:rPr>
              <a:t>Creating</a:t>
            </a:r>
            <a:r>
              <a:rPr lang="de-DE" sz="2200">
                <a:solidFill>
                  <a:schemeClr val="bg1"/>
                </a:solidFill>
                <a:latin typeface="Goudy Old Style" panose="02020502050305020303" pitchFamily="18" charset="0"/>
              </a:rPr>
              <a:t> </a:t>
            </a:r>
            <a:r>
              <a:rPr lang="de-DE" sz="2200" err="1">
                <a:solidFill>
                  <a:schemeClr val="bg1"/>
                </a:solidFill>
                <a:latin typeface="Goudy Old Style" panose="02020502050305020303" pitchFamily="18" charset="0"/>
              </a:rPr>
              <a:t>perspectives</a:t>
            </a:r>
            <a:r>
              <a:rPr lang="de-DE" sz="2200">
                <a:solidFill>
                  <a:schemeClr val="bg1"/>
                </a:solidFill>
                <a:latin typeface="Goudy Old Style" panose="02020502050305020303" pitchFamily="18" charset="0"/>
              </a:rPr>
              <a:t> – </a:t>
            </a:r>
            <a:r>
              <a:rPr lang="de-DE" sz="2200" err="1">
                <a:solidFill>
                  <a:schemeClr val="bg1"/>
                </a:solidFill>
                <a:latin typeface="Goudy Old Style" panose="02020502050305020303" pitchFamily="18" charset="0"/>
              </a:rPr>
              <a:t>shaping</a:t>
            </a:r>
            <a:r>
              <a:rPr lang="de-DE" sz="2200">
                <a:solidFill>
                  <a:schemeClr val="bg1"/>
                </a:solidFill>
                <a:latin typeface="Goudy Old Style" panose="02020502050305020303" pitchFamily="18" charset="0"/>
              </a:rPr>
              <a:t> </a:t>
            </a:r>
            <a:r>
              <a:rPr lang="de-DE" sz="2200" err="1">
                <a:solidFill>
                  <a:schemeClr val="bg1"/>
                </a:solidFill>
                <a:latin typeface="Goudy Old Style" panose="02020502050305020303" pitchFamily="18" charset="0"/>
              </a:rPr>
              <a:t>future</a:t>
            </a:r>
            <a:endParaRPr lang="de-DE" sz="220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B75D647-EFEB-4B18-8077-57D58320466D}"/>
              </a:ext>
            </a:extLst>
          </p:cNvPr>
          <p:cNvSpPr txBox="1">
            <a:spLocks/>
          </p:cNvSpPr>
          <p:nvPr/>
        </p:nvSpPr>
        <p:spPr>
          <a:xfrm>
            <a:off x="5287912" y="6414445"/>
            <a:ext cx="1662704" cy="374127"/>
          </a:xfrm>
          <a:prstGeom prst="rect">
            <a:avLst/>
          </a:prstGeom>
        </p:spPr>
        <p:txBody>
          <a:bodyPr vert="horz" lIns="75600" tIns="0" rIns="7560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de-DE" sz="900" u="none">
                <a:solidFill>
                  <a:schemeClr val="accent6">
                    <a:lumMod val="50000"/>
                  </a:schemeClr>
                </a:solidFill>
                <a:latin typeface="+mn-lt"/>
              </a:rPr>
              <a:t>info@wieselhuber.de</a:t>
            </a:r>
          </a:p>
          <a:p>
            <a:pPr marL="0" indent="0" algn="ctr">
              <a:buFontTx/>
              <a:buNone/>
            </a:pPr>
            <a:r>
              <a:rPr lang="de-DE" sz="900">
                <a:solidFill>
                  <a:schemeClr val="accent6">
                    <a:lumMod val="50000"/>
                  </a:schemeClr>
                </a:solidFill>
                <a:latin typeface="+mn-lt"/>
              </a:rPr>
              <a:t>www.wieselhuber.de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F67214B-76EC-48EB-89D0-6582A8DC5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881" y="495662"/>
            <a:ext cx="2839725" cy="128263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3A08DA1-6B80-4E82-9D80-425349E8EC75}"/>
              </a:ext>
            </a:extLst>
          </p:cNvPr>
          <p:cNvSpPr txBox="1"/>
          <p:nvPr/>
        </p:nvSpPr>
        <p:spPr>
          <a:xfrm>
            <a:off x="459282" y="1993752"/>
            <a:ext cx="2592288" cy="32403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75600" rIns="75600" bIns="75600" rtlCol="0">
            <a:noAutofit/>
          </a:bodyPr>
          <a:lstStyle/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>
                <a:solidFill>
                  <a:srgbClr val="63686A"/>
                </a:solidFill>
                <a:latin typeface="Goudy Old Style" panose="02020502050305020303" pitchFamily="18" charset="0"/>
              </a:rPr>
              <a:t>STRATEGY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>
                <a:solidFill>
                  <a:srgbClr val="63686A"/>
                </a:solidFill>
                <a:latin typeface="Goudy Old Style" panose="02020502050305020303" pitchFamily="18" charset="0"/>
              </a:rPr>
              <a:t>INNOVATION</a:t>
            </a: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 &amp; NEW BUSINESS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DIGITALIZATION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MANAGEMENT &amp; ORGANIZATION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SALES &amp; MARKETING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OPERATIONS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CORPORATE RESTRUCTURING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MERGER &amp; ACQUISITIONS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FINANCE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BANKRUPTCY ADMINISTRATION</a:t>
            </a:r>
          </a:p>
          <a:p>
            <a:pPr marL="0" indent="0">
              <a:lnSpc>
                <a:spcPts val="1440"/>
              </a:lnSpc>
              <a:spcBef>
                <a:spcPts val="940"/>
              </a:spcBef>
              <a:buClr>
                <a:schemeClr val="tx2"/>
              </a:buClr>
              <a:buFont typeface="Wingdings 2" panose="05020102010507070707" pitchFamily="18" charset="2"/>
              <a:buNone/>
            </a:pPr>
            <a:r>
              <a:rPr lang="en-US" sz="1200" b="0" baseline="0">
                <a:solidFill>
                  <a:srgbClr val="63686A"/>
                </a:solidFill>
                <a:latin typeface="Goudy Old Style" panose="02020502050305020303" pitchFamily="18" charset="0"/>
              </a:rPr>
              <a:t>CONTROLLING</a:t>
            </a:r>
            <a:endParaRPr lang="en-US" sz="1200" b="0">
              <a:solidFill>
                <a:srgbClr val="63686A"/>
              </a:solidFill>
              <a:latin typeface="Goudy Old Style" panose="02020502050305020303" pitchFamily="18" charset="0"/>
            </a:endParaRPr>
          </a:p>
        </p:txBody>
      </p:sp>
      <p:pic>
        <p:nvPicPr>
          <p:cNvPr id="5" name="Grafik 4" descr="Ein Bild, das Text, Screenshot, Design enthält.&#10;&#10;Automatisch generierte Beschreibung">
            <a:extLst>
              <a:ext uri="{FF2B5EF4-FFF2-40B4-BE49-F238E27FC236}">
                <a16:creationId xmlns:a16="http://schemas.microsoft.com/office/drawing/2014/main" id="{EA8409EB-2252-93DA-2B55-97A2001DF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33510" r="5463" b="25850"/>
          <a:stretch/>
        </p:blipFill>
        <p:spPr>
          <a:xfrm>
            <a:off x="5583805" y="1993752"/>
            <a:ext cx="627819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00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Diagramme 1 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831611" y="1628800"/>
            <a:ext cx="3024328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832312" y="1196800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>
            <a:off x="8818076" y="1627584"/>
            <a:ext cx="3037374" cy="139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cxnSpLocks/>
          </p:cNvCxnSpPr>
          <p:nvPr/>
        </p:nvCxnSpPr>
        <p:spPr>
          <a:xfrm>
            <a:off x="8818076" y="1196975"/>
            <a:ext cx="0" cy="43060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0645FDC-E032-5B41-95BA-E6BEAED2C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61" y="1628800"/>
            <a:ext cx="3824803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55A0153-25FC-D41F-1113-B631703CE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800"/>
            <a:ext cx="382480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6" name="Gerade Verbindung 23">
            <a:extLst>
              <a:ext uri="{FF2B5EF4-FFF2-40B4-BE49-F238E27FC236}">
                <a16:creationId xmlns:a16="http://schemas.microsoft.com/office/drawing/2014/main" id="{746511CA-C812-6902-D55A-6A985B8EE5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484C575-535A-E826-E5B5-0596FFC53F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42806" y="4419020"/>
            <a:ext cx="8058728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9243EF6-3A24-9C18-BB0E-3F7C55D8C5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774" y="3976929"/>
            <a:ext cx="8058726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0" name="Gerade Verbindung 26">
            <a:extLst>
              <a:ext uri="{FF2B5EF4-FFF2-40B4-BE49-F238E27FC236}">
                <a16:creationId xmlns:a16="http://schemas.microsoft.com/office/drawing/2014/main" id="{7D6EE109-028E-7B62-7B63-BC77EE41BA40}"/>
              </a:ext>
            </a:extLst>
          </p:cNvPr>
          <p:cNvCxnSpPr>
            <a:cxnSpLocks/>
          </p:cNvCxnSpPr>
          <p:nvPr userDrawn="1"/>
        </p:nvCxnSpPr>
        <p:spPr>
          <a:xfrm>
            <a:off x="332937" y="4410144"/>
            <a:ext cx="806040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7">
            <a:extLst>
              <a:ext uri="{FF2B5EF4-FFF2-40B4-BE49-F238E27FC236}">
                <a16:creationId xmlns:a16="http://schemas.microsoft.com/office/drawing/2014/main" id="{20755B85-FE7F-CE13-90CB-7E7F295E149A}"/>
              </a:ext>
            </a:extLst>
          </p:cNvPr>
          <p:cNvCxnSpPr/>
          <p:nvPr userDrawn="1"/>
        </p:nvCxnSpPr>
        <p:spPr>
          <a:xfrm>
            <a:off x="335366" y="3978144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30">
            <a:extLst>
              <a:ext uri="{FF2B5EF4-FFF2-40B4-BE49-F238E27FC236}">
                <a16:creationId xmlns:a16="http://schemas.microsoft.com/office/drawing/2014/main" id="{31B95D6E-444F-70D9-3AFB-58A73A3CE191}"/>
              </a:ext>
            </a:extLst>
          </p:cNvPr>
          <p:cNvCxnSpPr>
            <a:cxnSpLocks/>
          </p:cNvCxnSpPr>
          <p:nvPr userDrawn="1"/>
        </p:nvCxnSpPr>
        <p:spPr>
          <a:xfrm>
            <a:off x="332184" y="1627584"/>
            <a:ext cx="374759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31">
            <a:extLst>
              <a:ext uri="{FF2B5EF4-FFF2-40B4-BE49-F238E27FC236}">
                <a16:creationId xmlns:a16="http://schemas.microsoft.com/office/drawing/2014/main" id="{736E4102-847B-4829-C1E9-4CD6C6ADDA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5">
            <a:extLst>
              <a:ext uri="{FF2B5EF4-FFF2-40B4-BE49-F238E27FC236}">
                <a16:creationId xmlns:a16="http://schemas.microsoft.com/office/drawing/2014/main" id="{15CD6FD8-8480-F0F0-7BB1-9B4102E31465}"/>
              </a:ext>
            </a:extLst>
          </p:cNvPr>
          <p:cNvCxnSpPr>
            <a:cxnSpLocks/>
          </p:cNvCxnSpPr>
          <p:nvPr userDrawn="1"/>
        </p:nvCxnSpPr>
        <p:spPr>
          <a:xfrm>
            <a:off x="335366" y="397814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1A7D102D-2433-D35B-286B-6717BB79B1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3832" y="1196800"/>
            <a:ext cx="382481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D532DCA-A0BB-C585-4585-63E39A9A10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89203" y="1627584"/>
            <a:ext cx="3819437" cy="181548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cxnSp>
        <p:nvCxnSpPr>
          <p:cNvPr id="42" name="Gerade Verbindung 26">
            <a:extLst>
              <a:ext uri="{FF2B5EF4-FFF2-40B4-BE49-F238E27FC236}">
                <a16:creationId xmlns:a16="http://schemas.microsoft.com/office/drawing/2014/main" id="{D0701832-8CC2-896F-02E0-FB500A53D5DE}"/>
              </a:ext>
            </a:extLst>
          </p:cNvPr>
          <p:cNvCxnSpPr>
            <a:cxnSpLocks/>
          </p:cNvCxnSpPr>
          <p:nvPr userDrawn="1"/>
        </p:nvCxnSpPr>
        <p:spPr>
          <a:xfrm>
            <a:off x="4582643" y="1627584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5">
            <a:extLst>
              <a:ext uri="{FF2B5EF4-FFF2-40B4-BE49-F238E27FC236}">
                <a16:creationId xmlns:a16="http://schemas.microsoft.com/office/drawing/2014/main" id="{5962A0B3-ED77-6609-B785-F1569B0EBAF3}"/>
              </a:ext>
            </a:extLst>
          </p:cNvPr>
          <p:cNvCxnSpPr>
            <a:cxnSpLocks/>
          </p:cNvCxnSpPr>
          <p:nvPr userDrawn="1"/>
        </p:nvCxnSpPr>
        <p:spPr>
          <a:xfrm>
            <a:off x="4585824" y="119558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82641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Diagramme mit Komment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831611" y="1628800"/>
            <a:ext cx="3024328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832312" y="1196800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>
            <a:off x="8818076" y="1627584"/>
            <a:ext cx="3037374" cy="139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cxnSpLocks/>
          </p:cNvCxnSpPr>
          <p:nvPr/>
        </p:nvCxnSpPr>
        <p:spPr>
          <a:xfrm>
            <a:off x="8818076" y="1196975"/>
            <a:ext cx="0" cy="43060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0645FDC-E032-5B41-95BA-E6BEAED2C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61" y="1628800"/>
            <a:ext cx="3824803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55A0153-25FC-D41F-1113-B631703CE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800"/>
            <a:ext cx="382480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6" name="Gerade Verbindung 23">
            <a:extLst>
              <a:ext uri="{FF2B5EF4-FFF2-40B4-BE49-F238E27FC236}">
                <a16:creationId xmlns:a16="http://schemas.microsoft.com/office/drawing/2014/main" id="{746511CA-C812-6902-D55A-6A985B8EE5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30">
            <a:extLst>
              <a:ext uri="{FF2B5EF4-FFF2-40B4-BE49-F238E27FC236}">
                <a16:creationId xmlns:a16="http://schemas.microsoft.com/office/drawing/2014/main" id="{31B95D6E-444F-70D9-3AFB-58A73A3CE191}"/>
              </a:ext>
            </a:extLst>
          </p:cNvPr>
          <p:cNvCxnSpPr>
            <a:cxnSpLocks/>
          </p:cNvCxnSpPr>
          <p:nvPr userDrawn="1"/>
        </p:nvCxnSpPr>
        <p:spPr>
          <a:xfrm>
            <a:off x="332184" y="1627584"/>
            <a:ext cx="374759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31">
            <a:extLst>
              <a:ext uri="{FF2B5EF4-FFF2-40B4-BE49-F238E27FC236}">
                <a16:creationId xmlns:a16="http://schemas.microsoft.com/office/drawing/2014/main" id="{736E4102-847B-4829-C1E9-4CD6C6ADDA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1A7D102D-2433-D35B-286B-6717BB79B1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3832" y="1196800"/>
            <a:ext cx="382481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D532DCA-A0BB-C585-4585-63E39A9A10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89203" y="1627584"/>
            <a:ext cx="3819437" cy="181548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cxnSp>
        <p:nvCxnSpPr>
          <p:cNvPr id="42" name="Gerade Verbindung 26">
            <a:extLst>
              <a:ext uri="{FF2B5EF4-FFF2-40B4-BE49-F238E27FC236}">
                <a16:creationId xmlns:a16="http://schemas.microsoft.com/office/drawing/2014/main" id="{D0701832-8CC2-896F-02E0-FB500A53D5DE}"/>
              </a:ext>
            </a:extLst>
          </p:cNvPr>
          <p:cNvCxnSpPr>
            <a:cxnSpLocks/>
          </p:cNvCxnSpPr>
          <p:nvPr userDrawn="1"/>
        </p:nvCxnSpPr>
        <p:spPr>
          <a:xfrm>
            <a:off x="4582643" y="1627584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5">
            <a:extLst>
              <a:ext uri="{FF2B5EF4-FFF2-40B4-BE49-F238E27FC236}">
                <a16:creationId xmlns:a16="http://schemas.microsoft.com/office/drawing/2014/main" id="{5962A0B3-ED77-6609-B785-F1569B0EBAF3}"/>
              </a:ext>
            </a:extLst>
          </p:cNvPr>
          <p:cNvCxnSpPr>
            <a:cxnSpLocks/>
          </p:cNvCxnSpPr>
          <p:nvPr userDrawn="1"/>
        </p:nvCxnSpPr>
        <p:spPr>
          <a:xfrm>
            <a:off x="4585824" y="119558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62867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Diagramme 1 links 2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831611" y="1628800"/>
            <a:ext cx="3024328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832312" y="1196800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>
            <a:off x="8818076" y="1627584"/>
            <a:ext cx="3037374" cy="139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cxnSpLocks/>
          </p:cNvCxnSpPr>
          <p:nvPr/>
        </p:nvCxnSpPr>
        <p:spPr>
          <a:xfrm>
            <a:off x="8818076" y="1196975"/>
            <a:ext cx="0" cy="43060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0645FDC-E032-5B41-95BA-E6BEAED2C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61" y="1628799"/>
            <a:ext cx="3824803" cy="4608489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55A0153-25FC-D41F-1113-B631703CE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800"/>
            <a:ext cx="382480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6" name="Gerade Verbindung 23">
            <a:extLst>
              <a:ext uri="{FF2B5EF4-FFF2-40B4-BE49-F238E27FC236}">
                <a16:creationId xmlns:a16="http://schemas.microsoft.com/office/drawing/2014/main" id="{746511CA-C812-6902-D55A-6A985B8EE5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484C575-535A-E826-E5B5-0596FFC53F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576722" y="4419020"/>
            <a:ext cx="3824812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9243EF6-3A24-9C18-BB0E-3F7C55D8C5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82642" y="3976929"/>
            <a:ext cx="3809857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0" name="Gerade Verbindung 26">
            <a:extLst>
              <a:ext uri="{FF2B5EF4-FFF2-40B4-BE49-F238E27FC236}">
                <a16:creationId xmlns:a16="http://schemas.microsoft.com/office/drawing/2014/main" id="{7D6EE109-028E-7B62-7B63-BC77EE41BA40}"/>
              </a:ext>
            </a:extLst>
          </p:cNvPr>
          <p:cNvCxnSpPr>
            <a:cxnSpLocks/>
          </p:cNvCxnSpPr>
          <p:nvPr userDrawn="1"/>
        </p:nvCxnSpPr>
        <p:spPr>
          <a:xfrm>
            <a:off x="4584254" y="4410144"/>
            <a:ext cx="382320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30">
            <a:extLst>
              <a:ext uri="{FF2B5EF4-FFF2-40B4-BE49-F238E27FC236}">
                <a16:creationId xmlns:a16="http://schemas.microsoft.com/office/drawing/2014/main" id="{31B95D6E-444F-70D9-3AFB-58A73A3CE191}"/>
              </a:ext>
            </a:extLst>
          </p:cNvPr>
          <p:cNvCxnSpPr>
            <a:cxnSpLocks/>
          </p:cNvCxnSpPr>
          <p:nvPr userDrawn="1"/>
        </p:nvCxnSpPr>
        <p:spPr>
          <a:xfrm>
            <a:off x="332184" y="1627584"/>
            <a:ext cx="374759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31">
            <a:extLst>
              <a:ext uri="{FF2B5EF4-FFF2-40B4-BE49-F238E27FC236}">
                <a16:creationId xmlns:a16="http://schemas.microsoft.com/office/drawing/2014/main" id="{736E4102-847B-4829-C1E9-4CD6C6ADDA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5">
            <a:extLst>
              <a:ext uri="{FF2B5EF4-FFF2-40B4-BE49-F238E27FC236}">
                <a16:creationId xmlns:a16="http://schemas.microsoft.com/office/drawing/2014/main" id="{15CD6FD8-8480-F0F0-7BB1-9B4102E31465}"/>
              </a:ext>
            </a:extLst>
          </p:cNvPr>
          <p:cNvCxnSpPr>
            <a:cxnSpLocks/>
          </p:cNvCxnSpPr>
          <p:nvPr userDrawn="1"/>
        </p:nvCxnSpPr>
        <p:spPr>
          <a:xfrm>
            <a:off x="4582642" y="397814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1A7D102D-2433-D35B-286B-6717BB79B1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3832" y="1196800"/>
            <a:ext cx="382481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D532DCA-A0BB-C585-4585-63E39A9A10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89203" y="1627584"/>
            <a:ext cx="3819437" cy="181548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cxnSp>
        <p:nvCxnSpPr>
          <p:cNvPr id="42" name="Gerade Verbindung 26">
            <a:extLst>
              <a:ext uri="{FF2B5EF4-FFF2-40B4-BE49-F238E27FC236}">
                <a16:creationId xmlns:a16="http://schemas.microsoft.com/office/drawing/2014/main" id="{D0701832-8CC2-896F-02E0-FB500A53D5DE}"/>
              </a:ext>
            </a:extLst>
          </p:cNvPr>
          <p:cNvCxnSpPr>
            <a:cxnSpLocks/>
          </p:cNvCxnSpPr>
          <p:nvPr userDrawn="1"/>
        </p:nvCxnSpPr>
        <p:spPr>
          <a:xfrm>
            <a:off x="4582643" y="1627584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5">
            <a:extLst>
              <a:ext uri="{FF2B5EF4-FFF2-40B4-BE49-F238E27FC236}">
                <a16:creationId xmlns:a16="http://schemas.microsoft.com/office/drawing/2014/main" id="{5962A0B3-ED77-6609-B785-F1569B0EBAF3}"/>
              </a:ext>
            </a:extLst>
          </p:cNvPr>
          <p:cNvCxnSpPr>
            <a:cxnSpLocks/>
          </p:cNvCxnSpPr>
          <p:nvPr userDrawn="1"/>
        </p:nvCxnSpPr>
        <p:spPr>
          <a:xfrm>
            <a:off x="4585824" y="119558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82963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Diagramme 1 links 1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831611" y="1628800"/>
            <a:ext cx="3024328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832312" y="1196800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>
            <a:off x="8818076" y="1627584"/>
            <a:ext cx="3037374" cy="139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cxnSpLocks/>
          </p:cNvCxnSpPr>
          <p:nvPr/>
        </p:nvCxnSpPr>
        <p:spPr>
          <a:xfrm>
            <a:off x="8818076" y="1196975"/>
            <a:ext cx="0" cy="43060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0645FDC-E032-5B41-95BA-E6BEAED2C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61" y="1628799"/>
            <a:ext cx="3824803" cy="4608489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55A0153-25FC-D41F-1113-B631703CE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800"/>
            <a:ext cx="382480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6" name="Gerade Verbindung 23">
            <a:extLst>
              <a:ext uri="{FF2B5EF4-FFF2-40B4-BE49-F238E27FC236}">
                <a16:creationId xmlns:a16="http://schemas.microsoft.com/office/drawing/2014/main" id="{746511CA-C812-6902-D55A-6A985B8EE5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30">
            <a:extLst>
              <a:ext uri="{FF2B5EF4-FFF2-40B4-BE49-F238E27FC236}">
                <a16:creationId xmlns:a16="http://schemas.microsoft.com/office/drawing/2014/main" id="{31B95D6E-444F-70D9-3AFB-58A73A3CE191}"/>
              </a:ext>
            </a:extLst>
          </p:cNvPr>
          <p:cNvCxnSpPr>
            <a:cxnSpLocks/>
          </p:cNvCxnSpPr>
          <p:nvPr userDrawn="1"/>
        </p:nvCxnSpPr>
        <p:spPr>
          <a:xfrm>
            <a:off x="332184" y="1627584"/>
            <a:ext cx="374759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31">
            <a:extLst>
              <a:ext uri="{FF2B5EF4-FFF2-40B4-BE49-F238E27FC236}">
                <a16:creationId xmlns:a16="http://schemas.microsoft.com/office/drawing/2014/main" id="{736E4102-847B-4829-C1E9-4CD6C6ADDA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1A7D102D-2433-D35B-286B-6717BB79B1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3832" y="1196800"/>
            <a:ext cx="382481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D532DCA-A0BB-C585-4585-63E39A9A10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89203" y="1627584"/>
            <a:ext cx="3819437" cy="4609704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cxnSp>
        <p:nvCxnSpPr>
          <p:cNvPr id="42" name="Gerade Verbindung 26">
            <a:extLst>
              <a:ext uri="{FF2B5EF4-FFF2-40B4-BE49-F238E27FC236}">
                <a16:creationId xmlns:a16="http://schemas.microsoft.com/office/drawing/2014/main" id="{D0701832-8CC2-896F-02E0-FB500A53D5DE}"/>
              </a:ext>
            </a:extLst>
          </p:cNvPr>
          <p:cNvCxnSpPr>
            <a:cxnSpLocks/>
          </p:cNvCxnSpPr>
          <p:nvPr userDrawn="1"/>
        </p:nvCxnSpPr>
        <p:spPr>
          <a:xfrm>
            <a:off x="4582643" y="1627584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5">
            <a:extLst>
              <a:ext uri="{FF2B5EF4-FFF2-40B4-BE49-F238E27FC236}">
                <a16:creationId xmlns:a16="http://schemas.microsoft.com/office/drawing/2014/main" id="{5962A0B3-ED77-6609-B785-F1569B0EBAF3}"/>
              </a:ext>
            </a:extLst>
          </p:cNvPr>
          <p:cNvCxnSpPr>
            <a:cxnSpLocks/>
          </p:cNvCxnSpPr>
          <p:nvPr userDrawn="1"/>
        </p:nvCxnSpPr>
        <p:spPr>
          <a:xfrm>
            <a:off x="4585824" y="119558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37991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Diagramme 1 Inhalt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3" hasCustomPrompt="1"/>
          </p:nvPr>
        </p:nvSpPr>
        <p:spPr>
          <a:xfrm>
            <a:off x="8831611" y="1628800"/>
            <a:ext cx="3024328" cy="4599660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832312" y="1196800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>
            <a:off x="8818076" y="1627584"/>
            <a:ext cx="3037374" cy="1391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cxnSpLocks/>
          </p:cNvCxnSpPr>
          <p:nvPr/>
        </p:nvCxnSpPr>
        <p:spPr>
          <a:xfrm>
            <a:off x="8818076" y="1196975"/>
            <a:ext cx="0" cy="43060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iennummernplatzhalter 5"/>
          <p:cNvSpPr txBox="1">
            <a:spLocks/>
          </p:cNvSpPr>
          <p:nvPr/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defPPr>
              <a:defRPr lang="de-DE"/>
            </a:defPPr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lvl="0"/>
            <a:fld id="{37AEBC51-CBF9-464E-BBDB-A1BEE886518B}" type="slidenum">
              <a:rPr lang="de-DE" sz="1000" smtClean="0"/>
              <a:pPr lvl="0"/>
              <a:t>‹Nr.›</a:t>
            </a:fld>
            <a:endParaRPr lang="de-DE" sz="10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0645FDC-E032-5B41-95BA-E6BEAED2C0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61" y="1628800"/>
            <a:ext cx="3824803" cy="1818268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55A0153-25FC-D41F-1113-B631703CE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61" y="1196800"/>
            <a:ext cx="3824803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6" name="Gerade Verbindung 23">
            <a:extLst>
              <a:ext uri="{FF2B5EF4-FFF2-40B4-BE49-F238E27FC236}">
                <a16:creationId xmlns:a16="http://schemas.microsoft.com/office/drawing/2014/main" id="{746511CA-C812-6902-D55A-6A985B8EE5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484C575-535A-E826-E5B5-0596FFC53F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42806" y="4108487"/>
            <a:ext cx="3825498" cy="2128801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9243EF6-3A24-9C18-BB0E-3F7C55D8C5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365" y="3676487"/>
            <a:ext cx="3825497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10" name="Gerade Verbindung 26">
            <a:extLst>
              <a:ext uri="{FF2B5EF4-FFF2-40B4-BE49-F238E27FC236}">
                <a16:creationId xmlns:a16="http://schemas.microsoft.com/office/drawing/2014/main" id="{7D6EE109-028E-7B62-7B63-BC77EE41BA40}"/>
              </a:ext>
            </a:extLst>
          </p:cNvPr>
          <p:cNvCxnSpPr>
            <a:cxnSpLocks/>
          </p:cNvCxnSpPr>
          <p:nvPr userDrawn="1"/>
        </p:nvCxnSpPr>
        <p:spPr>
          <a:xfrm>
            <a:off x="332184" y="4109702"/>
            <a:ext cx="3828678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7">
            <a:extLst>
              <a:ext uri="{FF2B5EF4-FFF2-40B4-BE49-F238E27FC236}">
                <a16:creationId xmlns:a16="http://schemas.microsoft.com/office/drawing/2014/main" id="{20755B85-FE7F-CE13-90CB-7E7F295E149A}"/>
              </a:ext>
            </a:extLst>
          </p:cNvPr>
          <p:cNvCxnSpPr/>
          <p:nvPr userDrawn="1"/>
        </p:nvCxnSpPr>
        <p:spPr>
          <a:xfrm>
            <a:off x="335366" y="367770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30">
            <a:extLst>
              <a:ext uri="{FF2B5EF4-FFF2-40B4-BE49-F238E27FC236}">
                <a16:creationId xmlns:a16="http://schemas.microsoft.com/office/drawing/2014/main" id="{31B95D6E-444F-70D9-3AFB-58A73A3CE191}"/>
              </a:ext>
            </a:extLst>
          </p:cNvPr>
          <p:cNvCxnSpPr>
            <a:cxnSpLocks/>
          </p:cNvCxnSpPr>
          <p:nvPr userDrawn="1"/>
        </p:nvCxnSpPr>
        <p:spPr>
          <a:xfrm>
            <a:off x="332184" y="1627584"/>
            <a:ext cx="3828678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31">
            <a:extLst>
              <a:ext uri="{FF2B5EF4-FFF2-40B4-BE49-F238E27FC236}">
                <a16:creationId xmlns:a16="http://schemas.microsoft.com/office/drawing/2014/main" id="{736E4102-847B-4829-C1E9-4CD6C6ADDA31}"/>
              </a:ext>
            </a:extLst>
          </p:cNvPr>
          <p:cNvCxnSpPr/>
          <p:nvPr userDrawn="1"/>
        </p:nvCxnSpPr>
        <p:spPr>
          <a:xfrm>
            <a:off x="336062" y="1196752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5">
            <a:extLst>
              <a:ext uri="{FF2B5EF4-FFF2-40B4-BE49-F238E27FC236}">
                <a16:creationId xmlns:a16="http://schemas.microsoft.com/office/drawing/2014/main" id="{15CD6FD8-8480-F0F0-7BB1-9B4102E31465}"/>
              </a:ext>
            </a:extLst>
          </p:cNvPr>
          <p:cNvCxnSpPr>
            <a:cxnSpLocks/>
          </p:cNvCxnSpPr>
          <p:nvPr userDrawn="1"/>
        </p:nvCxnSpPr>
        <p:spPr>
          <a:xfrm>
            <a:off x="335366" y="3677702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1A7D102D-2433-D35B-286B-6717BB79B1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3832" y="1196800"/>
            <a:ext cx="3824811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D532DCA-A0BB-C585-4585-63E39A9A10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89203" y="1627584"/>
            <a:ext cx="3819437" cy="1815486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0F8C8C-A403-6FC1-87A0-9C42F19C00B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6003" y="4108487"/>
            <a:ext cx="3825498" cy="2119924"/>
          </a:xfrm>
        </p:spPr>
        <p:txBody>
          <a:bodyPr lIns="75600" tIns="72000" rIns="7560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durch Klicken hinzufügen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5607560E-35D0-C337-C532-ABBC5A553E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86001" y="3677702"/>
            <a:ext cx="3825497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cxnSp>
        <p:nvCxnSpPr>
          <p:cNvPr id="40" name="Gerade Verbindung 26">
            <a:extLst>
              <a:ext uri="{FF2B5EF4-FFF2-40B4-BE49-F238E27FC236}">
                <a16:creationId xmlns:a16="http://schemas.microsoft.com/office/drawing/2014/main" id="{1B78B124-ACCE-97E6-2C08-7BF5C61DE485}"/>
              </a:ext>
            </a:extLst>
          </p:cNvPr>
          <p:cNvCxnSpPr>
            <a:cxnSpLocks/>
          </p:cNvCxnSpPr>
          <p:nvPr userDrawn="1"/>
        </p:nvCxnSpPr>
        <p:spPr>
          <a:xfrm>
            <a:off x="4586002" y="4109701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5">
            <a:extLst>
              <a:ext uri="{FF2B5EF4-FFF2-40B4-BE49-F238E27FC236}">
                <a16:creationId xmlns:a16="http://schemas.microsoft.com/office/drawing/2014/main" id="{B737DA54-5193-381B-AD16-2042DD52E3E5}"/>
              </a:ext>
            </a:extLst>
          </p:cNvPr>
          <p:cNvCxnSpPr/>
          <p:nvPr userDrawn="1"/>
        </p:nvCxnSpPr>
        <p:spPr>
          <a:xfrm>
            <a:off x="4585999" y="3677701"/>
            <a:ext cx="0" cy="43200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26">
            <a:extLst>
              <a:ext uri="{FF2B5EF4-FFF2-40B4-BE49-F238E27FC236}">
                <a16:creationId xmlns:a16="http://schemas.microsoft.com/office/drawing/2014/main" id="{D0701832-8CC2-896F-02E0-FB500A53D5DE}"/>
              </a:ext>
            </a:extLst>
          </p:cNvPr>
          <p:cNvCxnSpPr>
            <a:cxnSpLocks/>
          </p:cNvCxnSpPr>
          <p:nvPr userDrawn="1"/>
        </p:nvCxnSpPr>
        <p:spPr>
          <a:xfrm>
            <a:off x="4582643" y="1627584"/>
            <a:ext cx="382481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5">
            <a:extLst>
              <a:ext uri="{FF2B5EF4-FFF2-40B4-BE49-F238E27FC236}">
                <a16:creationId xmlns:a16="http://schemas.microsoft.com/office/drawing/2014/main" id="{5962A0B3-ED77-6609-B785-F1569B0EBAF3}"/>
              </a:ext>
            </a:extLst>
          </p:cNvPr>
          <p:cNvCxnSpPr>
            <a:cxnSpLocks/>
          </p:cNvCxnSpPr>
          <p:nvPr userDrawn="1"/>
        </p:nvCxnSpPr>
        <p:spPr>
          <a:xfrm>
            <a:off x="4585824" y="1195584"/>
            <a:ext cx="1184" cy="431999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2E74559C-07F0-F527-25CB-4E00356EE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32511" y="3676487"/>
            <a:ext cx="3024328" cy="432000"/>
          </a:xfrm>
        </p:spPr>
        <p:txBody>
          <a:bodyPr lIns="79200" rIns="79200" anchor="ctr">
            <a:noAutofit/>
          </a:bodyPr>
          <a:lstStyle>
            <a:lvl1pPr marL="0" indent="0">
              <a:buFontTx/>
              <a:buNone/>
              <a:defRPr b="1"/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36400" indent="0">
              <a:buFontTx/>
              <a:buNone/>
              <a:defRPr/>
            </a:lvl4pPr>
            <a:lvl5pPr marL="806400" indent="0">
              <a:buFontTx/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8409087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9" imgH="350" progId="TCLayout.ActiveDocument.1">
                  <p:embed/>
                </p:oleObj>
              </mc:Choice>
              <mc:Fallback>
                <p:oleObj name="think-cell Foli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216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/>
          </p:cNvGraphicFramePr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586135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5" imgW="663" imgH="659" progId="TCLayout.ActiveDocument.1">
                  <p:embed/>
                </p:oleObj>
              </mc:Choice>
              <mc:Fallback>
                <p:oleObj name="think-cell Folie" r:id="rId25" imgW="663" imgH="659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0191" y="247295"/>
            <a:ext cx="10945747" cy="648000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/>
          <a:p>
            <a:r>
              <a:rPr lang="de-DE"/>
              <a:t>Titel durch Klicken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35360" y="1196975"/>
            <a:ext cx="11520578" cy="5040314"/>
          </a:xfrm>
          <a:prstGeom prst="rect">
            <a:avLst/>
          </a:prstGeom>
        </p:spPr>
        <p:txBody>
          <a:bodyPr vert="horz" lIns="93600" tIns="0" rIns="75600" bIns="0" rtlCol="0">
            <a:noAutofit/>
          </a:bodyPr>
          <a:lstStyle/>
          <a:p>
            <a:pPr lvl="0"/>
            <a:r>
              <a:rPr lang="de-DE"/>
              <a:t>Text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980441" y="6452884"/>
            <a:ext cx="2870338" cy="333374"/>
          </a:xfrm>
          <a:prstGeom prst="rect">
            <a:avLst/>
          </a:prstGeom>
        </p:spPr>
        <p:txBody>
          <a:bodyPr vert="horz" lIns="0" tIns="0" rIns="75600" bIns="0" rtlCol="0" anchor="t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2519001-820E-430E-B29E-0105D21CE83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3348923" y="6492445"/>
            <a:ext cx="5494154" cy="144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tx2"/>
                </a:solidFill>
              </a:rPr>
              <a:t>© Dr. </a:t>
            </a:r>
            <a:r>
              <a:rPr lang="en-US" sz="600" noProof="0">
                <a:solidFill>
                  <a:schemeClr val="tx2"/>
                </a:solidFill>
              </a:rPr>
              <a:t>Wieselhuber</a:t>
            </a:r>
            <a:r>
              <a:rPr lang="en-US" sz="600">
                <a:solidFill>
                  <a:schemeClr val="tx2"/>
                </a:solidFill>
              </a:rPr>
              <a:t> &amp; Partner GmbH. All rights reserved. Proprietary and confidential. </a:t>
            </a:r>
            <a:r>
              <a:rPr lang="en-US" sz="600" noProof="0">
                <a:solidFill>
                  <a:schemeClr val="tx2"/>
                </a:solidFill>
              </a:rPr>
              <a:t>Pictograms/Pictures</a:t>
            </a:r>
            <a:r>
              <a:rPr lang="en-US" sz="600">
                <a:solidFill>
                  <a:schemeClr val="tx2"/>
                </a:solidFill>
              </a:rPr>
              <a:t>: © istockphoto.com, Shutterstock, fotolia </a:t>
            </a:r>
          </a:p>
        </p:txBody>
      </p:sp>
      <p:cxnSp>
        <p:nvCxnSpPr>
          <p:cNvPr id="17" name="titleLine"/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910191" y="836975"/>
            <a:ext cx="1094574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ilename"/>
          <p:cNvSpPr/>
          <p:nvPr/>
        </p:nvSpPr>
        <p:spPr>
          <a:xfrm>
            <a:off x="3348923" y="6631683"/>
            <a:ext cx="5494154" cy="16824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/>
          <a:p>
            <a:pPr lvl="0" algn="ctr"/>
            <a:r>
              <a:rPr lang="de-DE" sz="600">
                <a:solidFill>
                  <a:schemeClr val="tx2"/>
                </a:solidFill>
              </a:rPr>
              <a:t>Vorlage.pptx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7333758-DF26-4DD1-A379-A105AFB28913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47" y="398710"/>
            <a:ext cx="466308" cy="47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62" r:id="rId3"/>
    <p:sldLayoutId id="2147483663" r:id="rId4"/>
    <p:sldLayoutId id="2147483664" r:id="rId5"/>
    <p:sldLayoutId id="2147483670" r:id="rId6"/>
    <p:sldLayoutId id="2147483671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4" r:id="rId13"/>
    <p:sldLayoutId id="2147483678" r:id="rId14"/>
    <p:sldLayoutId id="2147483677" r:id="rId15"/>
    <p:sldLayoutId id="2147483680" r:id="rId16"/>
    <p:sldLayoutId id="2147483686" r:id="rId17"/>
    <p:sldLayoutId id="2147483681" r:id="rId18"/>
    <p:sldLayoutId id="2147483683" r:id="rId19"/>
    <p:sldLayoutId id="2147483685" r:id="rId20"/>
    <p:sldLayoutId id="2147483684" r:id="rId2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1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spcBef>
          <a:spcPct val="20000"/>
        </a:spcBef>
        <a:buClr>
          <a:schemeClr val="tx2"/>
        </a:buClr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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spcBef>
          <a:spcPct val="20000"/>
        </a:spcBef>
        <a:buClr>
          <a:schemeClr val="tx2"/>
        </a:buClr>
        <a:buFont typeface="Calibri" panose="020F0502020204030204" pitchFamily="34" charset="0"/>
        <a:buChar char="-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806400" indent="-270000" algn="l" defTabSz="914400" rtl="0" eaLnBrk="1" latinLnBrk="0" hangingPunct="1">
        <a:spcBef>
          <a:spcPct val="20000"/>
        </a:spcBef>
        <a:buClr>
          <a:schemeClr val="tx2"/>
        </a:buClr>
        <a:buFont typeface="Wingdings 3" panose="05040102010807070707" pitchFamily="18" charset="2"/>
        <a:buChar char="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986400" indent="-180000" algn="l" defTabSz="914400" rtl="0" eaLnBrk="1" latinLnBrk="0" hangingPunct="1">
        <a:spcBef>
          <a:spcPts val="336"/>
        </a:spcBef>
        <a:buClr>
          <a:schemeClr val="tx2"/>
        </a:buClr>
        <a:buFont typeface="Wingdings" panose="05000000000000000000" pitchFamily="2" charset="2"/>
        <a:buChar char="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spcBef>
          <a:spcPct val="20000"/>
        </a:spcBef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ct val="20000"/>
        </a:spcBef>
        <a:buClr>
          <a:schemeClr val="tx2"/>
        </a:buClr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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ct val="20000"/>
        </a:spcBef>
        <a:buClr>
          <a:schemeClr val="tx2"/>
        </a:buClr>
        <a:buFont typeface="Calibri" panose="020F0502020204030204" pitchFamily="34" charset="0"/>
        <a:buChar char="-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06400" indent="-270000" algn="l" defTabSz="914400" rtl="0" eaLnBrk="1" latinLnBrk="0" hangingPunct="1">
        <a:spcBef>
          <a:spcPct val="20000"/>
        </a:spcBef>
        <a:buClr>
          <a:schemeClr val="tx2"/>
        </a:buClr>
        <a:buFont typeface="Wingdings 3" panose="05040102010807070707" pitchFamily="18" charset="2"/>
        <a:buChar char="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986400" indent="-180000" algn="l" defTabSz="914400" rtl="0" eaLnBrk="1" latinLnBrk="0" hangingPunct="1">
        <a:spcBef>
          <a:spcPts val="336"/>
        </a:spcBef>
        <a:buClr>
          <a:schemeClr val="tx2"/>
        </a:buClr>
        <a:buFont typeface="Wingdings" panose="05000000000000000000" pitchFamily="2" charset="2"/>
        <a:buChar char="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2" userDrawn="1">
          <p15:clr>
            <a:srgbClr val="F26B43"/>
          </p15:clr>
        </p15:guide>
        <p15:guide id="3" pos="7468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  <p15:guide id="6" pos="281" userDrawn="1">
          <p15:clr>
            <a:srgbClr val="F26B43"/>
          </p15:clr>
        </p15:guide>
        <p15:guide id="7" pos="7399" userDrawn="1">
          <p15:clr>
            <a:srgbClr val="F26B43"/>
          </p15:clr>
        </p15:guide>
        <p15:guide id="8" orient="horz" pos="3475" userDrawn="1">
          <p15:clr>
            <a:srgbClr val="F26B43"/>
          </p15:clr>
        </p15:guide>
        <p15:guide id="9" orient="horz" pos="32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31.xml"/><Relationship Id="rId21" Type="http://schemas.openxmlformats.org/officeDocument/2006/relationships/tags" Target="../tags/tag26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63" Type="http://schemas.openxmlformats.org/officeDocument/2006/relationships/tags" Target="../tags/tag68.xml"/><Relationship Id="rId68" Type="http://schemas.openxmlformats.org/officeDocument/2006/relationships/tags" Target="../tags/tag73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tags" Target="../tags/tag58.xml"/><Relationship Id="rId58" Type="http://schemas.openxmlformats.org/officeDocument/2006/relationships/tags" Target="../tags/tag63.xml"/><Relationship Id="rId66" Type="http://schemas.openxmlformats.org/officeDocument/2006/relationships/tags" Target="../tags/tag71.xml"/><Relationship Id="rId74" Type="http://schemas.openxmlformats.org/officeDocument/2006/relationships/chart" Target="../charts/chart2.xml"/><Relationship Id="rId5" Type="http://schemas.openxmlformats.org/officeDocument/2006/relationships/tags" Target="../tags/tag10.xml"/><Relationship Id="rId61" Type="http://schemas.openxmlformats.org/officeDocument/2006/relationships/tags" Target="../tags/tag66.xml"/><Relationship Id="rId19" Type="http://schemas.openxmlformats.org/officeDocument/2006/relationships/tags" Target="../tags/tag2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56" Type="http://schemas.openxmlformats.org/officeDocument/2006/relationships/tags" Target="../tags/tag61.xml"/><Relationship Id="rId64" Type="http://schemas.openxmlformats.org/officeDocument/2006/relationships/tags" Target="../tags/tag69.xml"/><Relationship Id="rId69" Type="http://schemas.openxmlformats.org/officeDocument/2006/relationships/slideLayout" Target="../slideLayouts/slideLayout20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72" Type="http://schemas.openxmlformats.org/officeDocument/2006/relationships/image" Target="../media/image10.emf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59" Type="http://schemas.openxmlformats.org/officeDocument/2006/relationships/tags" Target="../tags/tag64.xml"/><Relationship Id="rId67" Type="http://schemas.openxmlformats.org/officeDocument/2006/relationships/tags" Target="../tags/tag72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tags" Target="../tags/tag59.xml"/><Relationship Id="rId62" Type="http://schemas.openxmlformats.org/officeDocument/2006/relationships/tags" Target="../tags/tag67.xml"/><Relationship Id="rId70" Type="http://schemas.openxmlformats.org/officeDocument/2006/relationships/notesSlide" Target="../notesSlides/notesSlide1.xml"/><Relationship Id="rId75" Type="http://schemas.openxmlformats.org/officeDocument/2006/relationships/chart" Target="../charts/chart3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Relationship Id="rId57" Type="http://schemas.openxmlformats.org/officeDocument/2006/relationships/tags" Target="../tags/tag62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tags" Target="../tags/tag57.xml"/><Relationship Id="rId60" Type="http://schemas.openxmlformats.org/officeDocument/2006/relationships/tags" Target="../tags/tag65.xml"/><Relationship Id="rId65" Type="http://schemas.openxmlformats.org/officeDocument/2006/relationships/tags" Target="../tags/tag70.xml"/><Relationship Id="rId73" Type="http://schemas.openxmlformats.org/officeDocument/2006/relationships/chart" Target="../charts/chart1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39" Type="http://schemas.openxmlformats.org/officeDocument/2006/relationships/tags" Target="../tags/tag44.xml"/><Relationship Id="rId34" Type="http://schemas.openxmlformats.org/officeDocument/2006/relationships/tags" Target="../tags/tag39.xml"/><Relationship Id="rId50" Type="http://schemas.openxmlformats.org/officeDocument/2006/relationships/tags" Target="../tags/tag55.xml"/><Relationship Id="rId55" Type="http://schemas.openxmlformats.org/officeDocument/2006/relationships/tags" Target="../tags/tag60.xml"/><Relationship Id="rId76" Type="http://schemas.openxmlformats.org/officeDocument/2006/relationships/chart" Target="../charts/chart4.xml"/><Relationship Id="rId7" Type="http://schemas.openxmlformats.org/officeDocument/2006/relationships/tags" Target="../tags/tag12.xml"/><Relationship Id="rId71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F8EB-C924-DE0A-2CD0-677422BA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3860DE18-DC4C-B8FA-FB23-3CD33875E9C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2949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1" imgW="415" imgH="416" progId="TCLayout.ActiveDocument.1">
                  <p:embed/>
                </p:oleObj>
              </mc:Choice>
              <mc:Fallback>
                <p:oleObj name="think-cell Folie" r:id="rId71" imgW="415" imgH="416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60DE18-DC4C-B8FA-FB23-3CD33875E9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130018B-0375-4993-4AA7-7F828CB4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92" y="247295"/>
            <a:ext cx="10329308" cy="648000"/>
          </a:xfrm>
        </p:spPr>
        <p:txBody>
          <a:bodyPr vert="horz" rIns="72000"/>
          <a:lstStyle/>
          <a:p>
            <a:r>
              <a:rPr lang="de-DE"/>
              <a:t>Deutschland ist Europas größter Kunststoffproduzent und könnte trotz der aktuell schwierigen Entwicklung von neuen Handelsbeziehungen profitieren. Die Kunststoffverarbeitungsmaschinenbranche wird leicht wachsen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C8CF06-AE54-38CA-EC4A-E92C0BA41EE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831611" y="1628800"/>
            <a:ext cx="3024328" cy="462118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sz="1200"/>
              <a:t>Die Lage der deutschen Kunststoffindustrie bleibt – </a:t>
            </a:r>
            <a:r>
              <a:rPr lang="de-DE" sz="1200" b="1"/>
              <a:t>analog zur europäischen </a:t>
            </a:r>
            <a:r>
              <a:rPr lang="de-DE" sz="1200"/>
              <a:t>– </a:t>
            </a:r>
            <a:r>
              <a:rPr lang="de-DE" sz="1200" b="1"/>
              <a:t>angespannt</a:t>
            </a:r>
            <a:r>
              <a:rPr lang="de-DE" sz="1200"/>
              <a:t>. Gründe dafür sind u.a. die </a:t>
            </a:r>
            <a:r>
              <a:rPr lang="de-DE" sz="1200" b="1"/>
              <a:t>schwache Konjunktur </a:t>
            </a:r>
            <a:r>
              <a:rPr lang="de-DE" sz="1200"/>
              <a:t>und die damit verbundene </a:t>
            </a:r>
            <a:r>
              <a:rPr lang="de-DE" sz="1200" b="1"/>
              <a:t>geringe Nachfrage </a:t>
            </a:r>
            <a:r>
              <a:rPr lang="de-DE" sz="1200"/>
              <a:t>in Deutschland und Europa, hohe </a:t>
            </a:r>
            <a:r>
              <a:rPr lang="de-DE" sz="1200" b="1"/>
              <a:t>Produktionskosten</a:t>
            </a:r>
            <a:r>
              <a:rPr lang="de-DE" sz="1200"/>
              <a:t>, der </a:t>
            </a:r>
            <a:r>
              <a:rPr lang="de-DE" sz="1200" b="1"/>
              <a:t>internationale Wettbewerbsdruck </a:t>
            </a:r>
            <a:r>
              <a:rPr lang="de-DE" sz="1200"/>
              <a:t>sowie </a:t>
            </a:r>
            <a:r>
              <a:rPr lang="de-DE" sz="1200" b="1"/>
              <a:t>anhaltende Handelskonflikte</a:t>
            </a:r>
            <a:r>
              <a:rPr lang="de-DE" sz="120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sz="1200" b="1"/>
              <a:t>Positive Impulse </a:t>
            </a:r>
            <a:r>
              <a:rPr lang="de-DE" sz="1200"/>
              <a:t>ergeben sich hingegen aus der </a:t>
            </a:r>
            <a:r>
              <a:rPr lang="de-DE" sz="1200" b="1"/>
              <a:t>steigenden weltweiten Nachfrage </a:t>
            </a:r>
            <a:r>
              <a:rPr lang="de-DE" sz="1200"/>
              <a:t>nach Kunststoffen, aus </a:t>
            </a:r>
            <a:r>
              <a:rPr lang="de-DE" sz="1200" b="1"/>
              <a:t>neuen Handelsbeziehungen </a:t>
            </a:r>
            <a:r>
              <a:rPr lang="de-DE" sz="1200"/>
              <a:t>sowie aus </a:t>
            </a:r>
            <a:r>
              <a:rPr lang="de-DE" sz="1200" b="1"/>
              <a:t>möglichen Entlastungen bei den Energiepreisen</a:t>
            </a:r>
            <a:r>
              <a:rPr lang="de-DE" sz="120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sz="1200"/>
              <a:t>Die Herstellung von Kunststoffverarbeitungsmaschinen wird ein </a:t>
            </a:r>
            <a:r>
              <a:rPr lang="de-DE" sz="1200" b="1"/>
              <a:t>leicht positives Wachstum </a:t>
            </a:r>
            <a:r>
              <a:rPr lang="de-DE" sz="1200"/>
              <a:t>zeigen. Neue Maschinen könnten </a:t>
            </a:r>
            <a:r>
              <a:rPr lang="de-DE" sz="1200" b="1"/>
              <a:t>zusätzliche Nachfrage nach Werkzeugen</a:t>
            </a:r>
            <a:r>
              <a:rPr lang="de-DE" sz="1200"/>
              <a:t> generieren. Die </a:t>
            </a:r>
            <a:r>
              <a:rPr lang="de-DE" sz="1200" b="1"/>
              <a:t>Verpackungsindustrie</a:t>
            </a:r>
            <a:r>
              <a:rPr lang="de-DE" sz="1200"/>
              <a:t> stellt dabei die </a:t>
            </a:r>
            <a:r>
              <a:rPr lang="de-DE" sz="1200" b="1"/>
              <a:t>wichtigste Kundengruppe </a:t>
            </a:r>
            <a:r>
              <a:rPr lang="de-DE" sz="1200"/>
              <a:t>dar, die die Werkzeugbaubranche stärker in den Fokus nehmen sollte.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DB9D70-7550-6FE8-CEC5-8D8BAE140A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Anmerkungen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C64353-A051-AA7F-0EB5-7A432EFB6A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Kunststoffproduktion</a:t>
            </a:r>
            <a:br>
              <a:rPr lang="de-DE"/>
            </a:br>
            <a:r>
              <a:rPr lang="de-DE" b="0"/>
              <a:t>[DE/EU, 2020-2025, in </a:t>
            </a:r>
            <a:r>
              <a:rPr lang="de-DE" b="0" err="1"/>
              <a:t>Mt</a:t>
            </a:r>
            <a:r>
              <a:rPr lang="de-DE" b="0"/>
              <a:t>]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92320-9ED2-632C-1D9E-66473B3216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/>
              <a:t>Herstellung von Kunststoffverarbeitungs-maschinen </a:t>
            </a:r>
            <a:r>
              <a:rPr lang="de-DE" b="0"/>
              <a:t>[DE, 2020-2030*]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9DB38D-1F9C-C4AD-D4EE-60B2597DBD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3832" y="1196800"/>
            <a:ext cx="3907706" cy="432000"/>
          </a:xfrm>
        </p:spPr>
        <p:txBody>
          <a:bodyPr/>
          <a:lstStyle/>
          <a:p>
            <a:r>
              <a:rPr lang="de-DE"/>
              <a:t>Anteil der Top-Länder an der Kunststoffproduktion in der EU-27 </a:t>
            </a:r>
            <a:r>
              <a:rPr lang="de-DE" b="0"/>
              <a:t>[2024, in %]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A82C49B-93C2-5A85-3856-2289AD8EB00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de-DE"/>
              <a:t>Branchenumsatz der Kunststoffverarbeitungs-maschinen </a:t>
            </a:r>
            <a:r>
              <a:rPr lang="de-DE" b="0"/>
              <a:t>[DE, 2025, in %]</a:t>
            </a:r>
          </a:p>
        </p:txBody>
      </p:sp>
      <p:grpSp>
        <p:nvGrpSpPr>
          <p:cNvPr id="681" name="footNoteFull">
            <a:extLst>
              <a:ext uri="{FF2B5EF4-FFF2-40B4-BE49-F238E27FC236}">
                <a16:creationId xmlns:a16="http://schemas.microsoft.com/office/drawing/2014/main" id="{803F149D-80E4-3297-2876-255C77F5596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72480" y="6237312"/>
            <a:ext cx="9356278" cy="154800"/>
            <a:chOff x="272480" y="6237312"/>
            <a:chExt cx="9356278" cy="154800"/>
          </a:xfrm>
        </p:grpSpPr>
        <p:sp>
          <p:nvSpPr>
            <p:cNvPr id="682" name="footNote">
              <a:extLst>
                <a:ext uri="{FF2B5EF4-FFF2-40B4-BE49-F238E27FC236}">
                  <a16:creationId xmlns:a16="http://schemas.microsoft.com/office/drawing/2014/main" id="{61B529B6-544B-0B84-4A3A-2C7D736B6B2B}"/>
                </a:ext>
              </a:extLst>
            </p:cNvPr>
            <p:cNvSpPr txBox="1"/>
            <p:nvPr>
              <p:custDataLst>
                <p:tags r:id="rId67"/>
              </p:custDataLst>
            </p:nvPr>
          </p:nvSpPr>
          <p:spPr bwMode="auto">
            <a:xfrm>
              <a:off x="272480" y="6237312"/>
              <a:ext cx="9356278" cy="154800"/>
            </a:xfrm>
            <a:prstGeom prst="rect">
              <a:avLst/>
            </a:prstGeom>
            <a:noFill/>
            <a:ln w="6350">
              <a:noFill/>
              <a:headEnd/>
              <a:tailEnd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lIns="75600" tIns="28800" rIns="75600" bIns="0" rtlCol="0" anchor="t" anchorCtr="0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de-DE" sz="1000">
                  <a:solidFill>
                    <a:schemeClr val="tx2"/>
                  </a:solidFill>
                </a:rPr>
                <a:t>Quellen: Statista, Plastics Europe, </a:t>
              </a:r>
              <a:r>
                <a:rPr lang="de-DE" sz="1000" err="1">
                  <a:solidFill>
                    <a:schemeClr val="tx2"/>
                  </a:solidFill>
                </a:rPr>
                <a:t>IBISWorld</a:t>
              </a:r>
              <a:r>
                <a:rPr lang="de-DE" sz="1000">
                  <a:solidFill>
                    <a:schemeClr val="tx2"/>
                  </a:solidFill>
                </a:rPr>
                <a:t>. *Prognose. </a:t>
              </a:r>
              <a:r>
                <a:rPr lang="de-DE" sz="1000" baseline="30000">
                  <a:solidFill>
                    <a:schemeClr val="tx2"/>
                  </a:solidFill>
                </a:rPr>
                <a:t>1 </a:t>
              </a:r>
              <a:r>
                <a:rPr lang="de-DE" sz="1000">
                  <a:solidFill>
                    <a:schemeClr val="tx2"/>
                  </a:solidFill>
                </a:rPr>
                <a:t>Die Produktionsmenge für die EU wird demnächst veröffentlicht.</a:t>
              </a:r>
            </a:p>
          </p:txBody>
        </p:sp>
        <p:cxnSp>
          <p:nvCxnSpPr>
            <p:cNvPr id="683" name="Gerade Verbindung 13">
              <a:extLst>
                <a:ext uri="{FF2B5EF4-FFF2-40B4-BE49-F238E27FC236}">
                  <a16:creationId xmlns:a16="http://schemas.microsoft.com/office/drawing/2014/main" id="{42D8DEBB-D795-C0B6-EED5-5AA32250F983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>
            <a:xfrm>
              <a:off x="359183" y="6237312"/>
              <a:ext cx="1080000" cy="0"/>
            </a:xfrm>
            <a:prstGeom prst="line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6" name="Chart 3">
            <a:extLst>
              <a:ext uri="{FF2B5EF4-FFF2-40B4-BE49-F238E27FC236}">
                <a16:creationId xmlns:a16="http://schemas.microsoft.com/office/drawing/2014/main" id="{5C00367C-945C-0ACE-5E14-856592EDB6A0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24049491"/>
              </p:ext>
            </p:extLst>
          </p:nvPr>
        </p:nvGraphicFramePr>
        <p:xfrm>
          <a:off x="560388" y="4757738"/>
          <a:ext cx="3714750" cy="14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79" name="Textplatzhalter 2">
            <a:extLst>
              <a:ext uri="{FF2B5EF4-FFF2-40B4-BE49-F238E27FC236}">
                <a16:creationId xmlns:a16="http://schemas.microsoft.com/office/drawing/2014/main" id="{E08B9253-F5F3-E801-9BCF-C188438629DD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12750" y="5822950"/>
            <a:ext cx="777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49D2646C-FE2F-47B1-9A6D-2F31E3DB2646}" type="datetime'''0'''''''''''''''''''''''''''''''''''''''''''''''''''''''''">
              <a:rPr lang="de-DE" altLang="en-US" sz="1200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de-DE" sz="1200"/>
          </a:p>
        </p:txBody>
      </p:sp>
      <p:sp>
        <p:nvSpPr>
          <p:cNvPr id="281" name="Textplatzhalter 2">
            <a:extLst>
              <a:ext uri="{FF2B5EF4-FFF2-40B4-BE49-F238E27FC236}">
                <a16:creationId xmlns:a16="http://schemas.microsoft.com/office/drawing/2014/main" id="{6A6BC168-F4E8-AF30-5490-916324978EC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334963" y="5526088"/>
            <a:ext cx="1555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084B245-0B60-4629-A049-F3AAF69FF00D}" type="datetime'''''''''''1''''''''''''''0'''''''''''''''''''''''''''">
              <a:rPr lang="de-DE" altLang="en-US" sz="1200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de-DE" sz="1200"/>
          </a:p>
        </p:txBody>
      </p:sp>
      <p:sp>
        <p:nvSpPr>
          <p:cNvPr id="629" name="Textplatzhalter 2">
            <a:extLst>
              <a:ext uri="{FF2B5EF4-FFF2-40B4-BE49-F238E27FC236}">
                <a16:creationId xmlns:a16="http://schemas.microsoft.com/office/drawing/2014/main" id="{20E45248-9AA9-E882-496A-93C35B68E5F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34963" y="5230813"/>
            <a:ext cx="1555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99F25E66-46D0-44D5-87B8-98A6E95B9167}" type="datetime'''''''''''''''''''''''''''''''''''2''''''''''''0'''''''">
              <a:rPr lang="de-DE" altLang="en-US" sz="1200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de-DE" sz="1200"/>
          </a:p>
        </p:txBody>
      </p:sp>
      <p:sp>
        <p:nvSpPr>
          <p:cNvPr id="630" name="Textplatzhalter 2">
            <a:extLst>
              <a:ext uri="{FF2B5EF4-FFF2-40B4-BE49-F238E27FC236}">
                <a16:creationId xmlns:a16="http://schemas.microsoft.com/office/drawing/2014/main" id="{736FD837-4345-776F-4001-D4B16B180D7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334963" y="4933950"/>
            <a:ext cx="1555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4FFAD51-EB5D-47EF-8A70-8467A4B3C783}" type="datetime'''''''''''''''''''''3''''''''''''''''''''''''''0'">
              <a:rPr lang="de-DE" altLang="en-US" sz="1200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de-DE" sz="1200"/>
          </a:p>
        </p:txBody>
      </p:sp>
      <p:cxnSp>
        <p:nvCxnSpPr>
          <p:cNvPr id="999" name="Gerader Verbinder 998">
            <a:extLst>
              <a:ext uri="{FF2B5EF4-FFF2-40B4-BE49-F238E27FC236}">
                <a16:creationId xmlns:a16="http://schemas.microsoft.com/office/drawing/2014/main" id="{00087B34-8A55-9203-2671-9BC1C3F475C0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903288" y="4730750"/>
            <a:ext cx="2609850" cy="222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platzhalter 2">
            <a:extLst>
              <a:ext uri="{FF2B5EF4-FFF2-40B4-BE49-F238E27FC236}">
                <a16:creationId xmlns:a16="http://schemas.microsoft.com/office/drawing/2014/main" id="{551D95AF-6352-0FD1-3881-0EC40DF9E05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41363" y="5964238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D4D3AA1-86E7-4C1B-922E-900996618651}" type="datetime'''''''''''''''''''''''20''''2''''''''''''''''0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de-DE" sz="1200"/>
          </a:p>
        </p:txBody>
      </p:sp>
      <p:sp>
        <p:nvSpPr>
          <p:cNvPr id="53" name="Textplatzhalter 2">
            <a:extLst>
              <a:ext uri="{FF2B5EF4-FFF2-40B4-BE49-F238E27FC236}">
                <a16:creationId xmlns:a16="http://schemas.microsoft.com/office/drawing/2014/main" id="{FA7CAA1C-5546-0D61-FE2C-721C107667EF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263650" y="5964238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3E155E9-64A6-4C0B-8945-3FB60FB1AC6B}" type="datetime'''''''''''''''''''''''''''2''''0''''2''2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de-DE" sz="1200"/>
          </a:p>
        </p:txBody>
      </p:sp>
      <p:sp>
        <p:nvSpPr>
          <p:cNvPr id="55" name="Textplatzhalter 2">
            <a:extLst>
              <a:ext uri="{FF2B5EF4-FFF2-40B4-BE49-F238E27FC236}">
                <a16:creationId xmlns:a16="http://schemas.microsoft.com/office/drawing/2014/main" id="{19BC210D-A2D0-EFB1-330B-5C72FBE448B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785938" y="5964238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3DCEE5F-BB35-4409-A505-D3A413BC2B87}" type="datetime'''20''''''''''''''''''''''''''''''''''''''''''''''2''4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de-DE" sz="1200"/>
          </a:p>
        </p:txBody>
      </p:sp>
      <p:sp>
        <p:nvSpPr>
          <p:cNvPr id="106" name="Textplatzhalter 2">
            <a:extLst>
              <a:ext uri="{FF2B5EF4-FFF2-40B4-BE49-F238E27FC236}">
                <a16:creationId xmlns:a16="http://schemas.microsoft.com/office/drawing/2014/main" id="{7D158C64-37E5-D5B7-9028-D2A5C6A08A1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268538" y="59642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C377356-2FA1-43E3-B621-E2BCB6BD329C}" type="datetime'''''''''2''''''0''''''''2''''''''6''''''''''''*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2026*</a:t>
            </a:fld>
            <a:endParaRPr lang="de-DE" sz="1200"/>
          </a:p>
        </p:txBody>
      </p:sp>
      <p:sp>
        <p:nvSpPr>
          <p:cNvPr id="108" name="Textplatzhalter 2">
            <a:extLst>
              <a:ext uri="{FF2B5EF4-FFF2-40B4-BE49-F238E27FC236}">
                <a16:creationId xmlns:a16="http://schemas.microsoft.com/office/drawing/2014/main" id="{8DDAE56F-268C-93F3-001A-254C79A6A24B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790825" y="59642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D593A75-2334-4434-BF5C-3009A28E267D}" type="datetime'''''2''''''''''''''''''''''''''''0''''''28*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2028*</a:t>
            </a:fld>
            <a:endParaRPr lang="de-DE" sz="1200"/>
          </a:p>
        </p:txBody>
      </p:sp>
      <p:sp>
        <p:nvSpPr>
          <p:cNvPr id="110" name="Textplatzhalter 2">
            <a:extLst>
              <a:ext uri="{FF2B5EF4-FFF2-40B4-BE49-F238E27FC236}">
                <a16:creationId xmlns:a16="http://schemas.microsoft.com/office/drawing/2014/main" id="{5B7764D9-E2FF-3E1B-E296-1ECCEC58D18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313113" y="59642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7BA16B3-D1EA-4214-88D1-A489AC4BE70A}" type="datetime'''''20''''''''''''''''''''''''3''''''''''''''''0''''''*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2030*</a:t>
            </a:fld>
            <a:endParaRPr lang="de-DE" sz="1200"/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C150CFE8-C06B-B373-66D1-25742346261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784225" y="5437188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9D732A5-7EF9-482E-98C1-DF0562D33956}" type="datetime'''9'''''',''''''''''''''''0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9,0</a:t>
            </a:fld>
            <a:endParaRPr lang="de-DE" sz="120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E59B40B9-816E-6225-135A-1D264A84906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1268413" y="5402263"/>
            <a:ext cx="315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760EE33-3D0D-49A6-90D7-608728987B8F}" type="datetime'''''''''''''''''1''0'''',''2''''''''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10,2</a:t>
            </a:fld>
            <a:endParaRPr lang="de-DE" sz="1200"/>
          </a:p>
        </p:txBody>
      </p:sp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E6034369-1560-25E5-A9CB-FD0CF022C87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828800" y="5438775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6AF4D77-63E1-4F35-9025-CF8BEFAF1403}" type="datetime'''''''''9'''''''''''',''''0''''''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9,0</a:t>
            </a:fld>
            <a:endParaRPr lang="de-DE" sz="1200"/>
          </a:p>
        </p:txBody>
      </p:sp>
      <p:sp>
        <p:nvSpPr>
          <p:cNvPr id="113" name="Textplatzhalter 2">
            <a:extLst>
              <a:ext uri="{FF2B5EF4-FFF2-40B4-BE49-F238E27FC236}">
                <a16:creationId xmlns:a16="http://schemas.microsoft.com/office/drawing/2014/main" id="{F64D65AA-048D-E4A7-7A0F-C8231684B385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349500" y="5434013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E48B7B4-3B79-481A-A332-8886061045C8}" type="datetime'''''''9'''''''''''''''''''''''''''',''''2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9,2</a:t>
            </a:fld>
            <a:endParaRPr lang="de-DE" sz="1200"/>
          </a:p>
        </p:txBody>
      </p:sp>
      <p:sp>
        <p:nvSpPr>
          <p:cNvPr id="115" name="Textplatzhalter 2">
            <a:extLst>
              <a:ext uri="{FF2B5EF4-FFF2-40B4-BE49-F238E27FC236}">
                <a16:creationId xmlns:a16="http://schemas.microsoft.com/office/drawing/2014/main" id="{8403F483-E6FA-38BC-594F-9FD0C22E5F0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2833688" y="5410200"/>
            <a:ext cx="315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23EE92D-C130-4606-BF87-AB26185B5AB1}" type="datetime'''''''''1''0'''''''''',''0''''''''''''''''''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10,0</a:t>
            </a:fld>
            <a:endParaRPr lang="de-DE" sz="1200"/>
          </a:p>
        </p:txBody>
      </p:sp>
      <p:sp>
        <p:nvSpPr>
          <p:cNvPr id="117" name="Textplatzhalter 2">
            <a:extLst>
              <a:ext uri="{FF2B5EF4-FFF2-40B4-BE49-F238E27FC236}">
                <a16:creationId xmlns:a16="http://schemas.microsoft.com/office/drawing/2014/main" id="{BA331294-08BA-67F6-9D84-C024C1AB0BD5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394075" y="5414963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CD597B3-DAF0-40DC-88D3-C987AC7077F5}" type="datetime'''''''''''''9'''''''',''''8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9,8</a:t>
            </a:fld>
            <a:endParaRPr lang="de-DE" sz="1200"/>
          </a:p>
        </p:txBody>
      </p:sp>
      <p:sp>
        <p:nvSpPr>
          <p:cNvPr id="998" name="Textplatzhalter 2">
            <a:extLst>
              <a:ext uri="{FF2B5EF4-FFF2-40B4-BE49-F238E27FC236}">
                <a16:creationId xmlns:a16="http://schemas.microsoft.com/office/drawing/2014/main" id="{DEFE8BDC-CC57-D2C1-DEB4-4600BA1E0FC3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470025" y="4613275"/>
            <a:ext cx="1477963" cy="258763"/>
          </a:xfrm>
          <a:prstGeom prst="ellipse">
            <a:avLst/>
          </a:prstGeom>
          <a:solidFill>
            <a:srgbClr val="007770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en-US" sz="1200" b="1">
                <a:solidFill>
                  <a:schemeClr val="bg1"/>
                </a:solidFill>
                <a:effectLst/>
              </a:rPr>
              <a:t>Umsatz </a:t>
            </a:r>
            <a:fld id="{D59FB2BF-30E1-484A-A9EB-AB21E702E063}" type="datetime'''''''+''''''''''''''''''''''''''''''1''''%'''''">
              <a:rPr lang="de-DE" altLang="en-US" sz="1200" b="1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+1%</a:t>
            </a:fld>
            <a:r>
              <a:rPr lang="de-DE" sz="1200" b="1">
                <a:solidFill>
                  <a:schemeClr val="bg1"/>
                </a:solidFill>
              </a:rPr>
              <a:t> p.a.</a:t>
            </a:r>
          </a:p>
        </p:txBody>
      </p:sp>
      <p:graphicFrame>
        <p:nvGraphicFramePr>
          <p:cNvPr id="35" name="Chart 3">
            <a:extLst>
              <a:ext uri="{FF2B5EF4-FFF2-40B4-BE49-F238E27FC236}">
                <a16:creationId xmlns:a16="http://schemas.microsoft.com/office/drawing/2014/main" id="{1B9A976A-9D91-2566-1D2D-3D784DA1E4BC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92470945"/>
              </p:ext>
            </p:extLst>
          </p:nvPr>
        </p:nvGraphicFramePr>
        <p:xfrm>
          <a:off x="4441825" y="3894138"/>
          <a:ext cx="2228850" cy="259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4"/>
          </a:graphicData>
        </a:graphic>
      </p:graphicFrame>
      <p:sp>
        <p:nvSpPr>
          <p:cNvPr id="1018" name="Textplatzhalter 2">
            <a:extLst>
              <a:ext uri="{FF2B5EF4-FFF2-40B4-BE49-F238E27FC236}">
                <a16:creationId xmlns:a16="http://schemas.microsoft.com/office/drawing/2014/main" id="{24031EE3-A010-D56E-4CCD-F462C861B00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4960938" y="4452938"/>
            <a:ext cx="3095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ABE662B-A5CE-4898-A59C-293D6BA28524}" type="datetime'1''''''''''''''9''''''''''''''''''''''%'''''''''''">
              <a:rPr lang="de-DE" altLang="en-US" sz="12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19%</a:t>
            </a:fld>
            <a:endParaRPr lang="de-DE" sz="120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CBE3D1C5-3C18-779F-65EF-C506586680C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753225" y="4564063"/>
            <a:ext cx="214313" cy="160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D1E70A9-023C-CF7D-C2AD-D3ADDC0A5FAE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753225" y="4797425"/>
            <a:ext cx="214313" cy="1603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1D8C4E4-95E6-9B10-BFDA-E3BEB2422F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753225" y="5030788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9FCE17B-7C1C-5A28-8E95-82992319F5D7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6753225" y="5264150"/>
            <a:ext cx="214313" cy="1603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F37146F-6427-7475-B371-4E862B13FED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753225" y="5680075"/>
            <a:ext cx="214313" cy="160338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2350451E-4C09-46EC-0663-31A89B0ACDF1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7018338" y="4559300"/>
            <a:ext cx="1328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7ABEB0A-437C-452B-A9EF-45D202FBA3CA}" type="datetime'''''''V''''erpac''''k''''''''ung''s''''''''i''nd''u''strie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Verpackungsindustrie</a:t>
            </a:fld>
            <a:endParaRPr lang="de-DE" sz="120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C9CA7A1-647E-949D-3C7E-C6BE56FC863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7018338" y="4792663"/>
            <a:ext cx="781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6D74182-19B6-41FC-9EB8-F02CB86EF5FC}" type="datetime'B''''''''''a''''u''in''''du''s''''t''''ri''''''e''''''''''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Bauindustrie</a:t>
            </a:fld>
            <a:endParaRPr lang="de-DE" sz="120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52E01275-4710-55B6-427C-6E83C519A613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7018338" y="5026025"/>
            <a:ext cx="11969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677B17F-3EDB-4EDF-89CC-25FB7C35D6C8}" type="datetime'Au''t''o''mob''''''''i''lindus''''t''''ri''''''''''''''e''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Automobilindustrie</a:t>
            </a:fld>
            <a:endParaRPr lang="de-DE" sz="1200"/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0C9CB858-5A4E-6B9B-CA65-BACF93DC18E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018338" y="5259388"/>
            <a:ext cx="12017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FF5A0A2E-FE56-4F59-999F-EE63EB326F96}" type="datetime'E''le''k''tro- &amp;&#10; El''ek''tr''on''i''ki''ndust''r''ie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Elektro- &amp;
 Elektronikindustrie</a:t>
            </a:fld>
            <a:endParaRPr lang="de-DE" sz="1200"/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6F6FA18D-6A1E-3364-86C1-9827EFF10027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018338" y="5675313"/>
            <a:ext cx="10064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C62D31B-735E-4818-9F7A-1FB1600F3609}" type="datetime'S''o''''''''''''n''s''''t''''ig''''e ''M''''''ä''r''''kt''''e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Sonstige Märkte</a:t>
            </a:fld>
            <a:endParaRPr lang="de-DE" sz="1200"/>
          </a:p>
        </p:txBody>
      </p:sp>
      <p:graphicFrame>
        <p:nvGraphicFramePr>
          <p:cNvPr id="606" name="Chart 3">
            <a:extLst>
              <a:ext uri="{FF2B5EF4-FFF2-40B4-BE49-F238E27FC236}">
                <a16:creationId xmlns:a16="http://schemas.microsoft.com/office/drawing/2014/main" id="{9B20E508-9323-C75B-A22B-AD7473D3B8D6}"/>
              </a:ext>
            </a:extLst>
          </p:cNvPr>
          <p:cNvGraphicFramePr/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2105473862"/>
              </p:ext>
            </p:extLst>
          </p:nvPr>
        </p:nvGraphicFramePr>
        <p:xfrm>
          <a:off x="257175" y="2338388"/>
          <a:ext cx="3986213" cy="1293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5"/>
          </a:graphicData>
        </a:graphic>
      </p:graphicFrame>
      <p:cxnSp>
        <p:nvCxnSpPr>
          <p:cNvPr id="973" name="Gerader Verbinder 972">
            <a:extLst>
              <a:ext uri="{FF2B5EF4-FFF2-40B4-BE49-F238E27FC236}">
                <a16:creationId xmlns:a16="http://schemas.microsoft.com/office/drawing/2014/main" id="{0629BFE7-B869-AAEE-C047-CD2BAA7ABD22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 bwMode="auto">
          <a:xfrm>
            <a:off x="544513" y="2268538"/>
            <a:ext cx="3184525" cy="349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5" name="Textplatzhalter 2">
            <a:extLst>
              <a:ext uri="{FF2B5EF4-FFF2-40B4-BE49-F238E27FC236}">
                <a16:creationId xmlns:a16="http://schemas.microsoft.com/office/drawing/2014/main" id="{30DBA0DF-CA1A-6A32-EA31-B7BB8547BBC2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495300" y="3416300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3EBE58D-D107-4DA9-85E8-86D7A95E04A3}" type="datetime'''''2''0''2''''''''''''''0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de-DE" sz="1200"/>
          </a:p>
        </p:txBody>
      </p:sp>
      <p:sp>
        <p:nvSpPr>
          <p:cNvPr id="63" name="Textplatzhalter 2">
            <a:extLst>
              <a:ext uri="{FF2B5EF4-FFF2-40B4-BE49-F238E27FC236}">
                <a16:creationId xmlns:a16="http://schemas.microsoft.com/office/drawing/2014/main" id="{E15B72C7-3A7A-1B86-2D9F-C6CFDC2ACC7F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1131888" y="3416300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2F636CF-0F90-44AE-8378-4838EBE4186D}" type="datetime'''''''''''''20''2''''''''''''''''''''''''''''''''''''''1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de-DE" sz="1200"/>
          </a:p>
        </p:txBody>
      </p:sp>
      <p:sp>
        <p:nvSpPr>
          <p:cNvPr id="127" name="Textplatzhalter 2">
            <a:extLst>
              <a:ext uri="{FF2B5EF4-FFF2-40B4-BE49-F238E27FC236}">
                <a16:creationId xmlns:a16="http://schemas.microsoft.com/office/drawing/2014/main" id="{5B68EA9A-D265-FEA5-6F4C-3D2BF5FE3DF2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1770063" y="3416300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269FCC-B8FA-4706-925B-A5DBBF810597}" type="datetime'''2''''''''''''''''0''''''''''22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de-DE" sz="1200"/>
          </a:p>
        </p:txBody>
      </p:sp>
      <p:sp>
        <p:nvSpPr>
          <p:cNvPr id="65" name="Textplatzhalter 2">
            <a:extLst>
              <a:ext uri="{FF2B5EF4-FFF2-40B4-BE49-F238E27FC236}">
                <a16:creationId xmlns:a16="http://schemas.microsoft.com/office/drawing/2014/main" id="{8260F95D-B816-09AB-4A23-02771512E6C0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2406650" y="3416300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4BA89B8-51A6-4A9F-BBF1-3EF0DD2C18B6}" type="datetime'''''''''''''''''''2''''''02''''''3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de-DE" sz="1200"/>
          </a:p>
        </p:txBody>
      </p:sp>
      <p:sp>
        <p:nvSpPr>
          <p:cNvPr id="966" name="Textplatzhalter 2">
            <a:extLst>
              <a:ext uri="{FF2B5EF4-FFF2-40B4-BE49-F238E27FC236}">
                <a16:creationId xmlns:a16="http://schemas.microsoft.com/office/drawing/2014/main" id="{CB5B7451-D79A-2A04-64CF-ECB561312479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3043238" y="3416300"/>
            <a:ext cx="3238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CB79E86-F329-4054-BB5C-394BCF04D0D6}" type="datetime'''''''''''''2''''''''0''''''''''''''2''''4''''''''''''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de-DE" sz="1200"/>
          </a:p>
        </p:txBody>
      </p:sp>
      <p:sp>
        <p:nvSpPr>
          <p:cNvPr id="603" name="Textplatzhalter 2">
            <a:extLst>
              <a:ext uri="{FF2B5EF4-FFF2-40B4-BE49-F238E27FC236}">
                <a16:creationId xmlns:a16="http://schemas.microsoft.com/office/drawing/2014/main" id="{99CFCB7A-28F9-E8F7-53B4-E52F0F4035FD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654425" y="3416300"/>
            <a:ext cx="3746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2E028E1-FEA9-40F0-8C53-EBC47D369E3F}" type="datetime'20''''''''''2''''''''''''''''''''''''5'''''''">
              <a:rPr lang="de-DE" altLang="en-US" sz="12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r>
              <a:rPr lang="de-DE" altLang="en-US" sz="1200" baseline="30000"/>
              <a:t>1</a:t>
            </a:r>
            <a:endParaRPr lang="de-DE" sz="1200" baseline="30000"/>
          </a:p>
        </p:txBody>
      </p:sp>
      <p:sp>
        <p:nvSpPr>
          <p:cNvPr id="963" name="Textplatzhalter 2">
            <a:extLst>
              <a:ext uri="{FF2B5EF4-FFF2-40B4-BE49-F238E27FC236}">
                <a16:creationId xmlns:a16="http://schemas.microsoft.com/office/drawing/2014/main" id="{92FA4F38-7B43-D76C-C6DA-8250BFCC5FDA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1630363" y="2157413"/>
            <a:ext cx="1012825" cy="258763"/>
          </a:xfrm>
          <a:prstGeom prst="ellipse">
            <a:avLst/>
          </a:prstGeom>
          <a:solidFill>
            <a:srgbClr val="C30C3E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en-US" sz="1200" b="1">
                <a:solidFill>
                  <a:schemeClr val="bg1"/>
                </a:solidFill>
              </a:rPr>
              <a:t>DE</a:t>
            </a:r>
            <a:r>
              <a:rPr lang="de-DE" altLang="en-US" sz="1200" b="1">
                <a:solidFill>
                  <a:schemeClr val="bg1"/>
                </a:solidFill>
                <a:effectLst/>
              </a:rPr>
              <a:t> </a:t>
            </a:r>
            <a:fld id="{BCA6BCC8-1A2D-4EAD-B939-887894311A47}" type="datetime'''''''''''-''2''''''%'''''''''''''''''''''''''''''''''''">
              <a:rPr lang="de-DE" altLang="en-US" sz="1200" b="1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-2%</a:t>
            </a:fld>
            <a:r>
              <a:rPr lang="de-DE" sz="1200" b="1">
                <a:solidFill>
                  <a:schemeClr val="bg1"/>
                </a:solidFill>
              </a:rPr>
              <a:t> p.a.</a:t>
            </a:r>
          </a:p>
        </p:txBody>
      </p:sp>
      <p:graphicFrame>
        <p:nvGraphicFramePr>
          <p:cNvPr id="36" name="Chart 3">
            <a:extLst>
              <a:ext uri="{FF2B5EF4-FFF2-40B4-BE49-F238E27FC236}">
                <a16:creationId xmlns:a16="http://schemas.microsoft.com/office/drawing/2014/main" id="{A4733ABC-0B27-2974-BA01-FF8093DBE0FF}"/>
              </a:ext>
            </a:extLst>
          </p:cNvPr>
          <p:cNvGraphicFramePr/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679929099"/>
              </p:ext>
            </p:extLst>
          </p:nvPr>
        </p:nvGraphicFramePr>
        <p:xfrm>
          <a:off x="6097588" y="1628775"/>
          <a:ext cx="2397125" cy="2090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6"/>
          </a:graphicData>
        </a:graphic>
      </p:graphicFrame>
      <p:sp>
        <p:nvSpPr>
          <p:cNvPr id="1021" name="Textplatzhalter 2">
            <a:extLst>
              <a:ext uri="{FF2B5EF4-FFF2-40B4-BE49-F238E27FC236}">
                <a16:creationId xmlns:a16="http://schemas.microsoft.com/office/drawing/2014/main" id="{3F296EBB-333D-028F-969A-934EF616B5AD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5307013" y="1812925"/>
            <a:ext cx="771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5B7D1AC-D55E-4DCB-A5E1-A278408F62E2}" type="datetime'''''D''e''u''''''''t''''s''''''''ch''''lan''''d'''''''">
              <a:rPr lang="de-DE" altLang="en-US" sz="12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Deutschland</a:t>
            </a:fld>
            <a:endParaRPr lang="de-DE" sz="1200"/>
          </a:p>
        </p:txBody>
      </p:sp>
      <p:sp>
        <p:nvSpPr>
          <p:cNvPr id="1022" name="Textplatzhalter 2">
            <a:extLst>
              <a:ext uri="{FF2B5EF4-FFF2-40B4-BE49-F238E27FC236}">
                <a16:creationId xmlns:a16="http://schemas.microsoft.com/office/drawing/2014/main" id="{38333B4B-1AFB-2EA5-D104-01C4DEEE31D3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5622925" y="2197100"/>
            <a:ext cx="4556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A88554C1-A776-4E32-842E-5428ED45D369}" type="datetime'''''''''B''''''''''e''l''''''g''''''''''i''''''''''''''''en'">
              <a:rPr lang="de-DE" altLang="en-US" sz="12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Belgien</a:t>
            </a:fld>
            <a:endParaRPr lang="de-DE" sz="1200"/>
          </a:p>
        </p:txBody>
      </p:sp>
      <p:sp>
        <p:nvSpPr>
          <p:cNvPr id="1023" name="Textplatzhalter 2">
            <a:extLst>
              <a:ext uri="{FF2B5EF4-FFF2-40B4-BE49-F238E27FC236}">
                <a16:creationId xmlns:a16="http://schemas.microsoft.com/office/drawing/2014/main" id="{243EEC17-01BA-A97B-9D15-32018EE245C2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5430838" y="2582863"/>
            <a:ext cx="6477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56CB358F-A2F2-451C-8AB4-AAF21C85BB00}" type="datetime'''F''''r''''an''''''k''''''''r''''e''''i''c''h'">
              <a:rPr lang="de-DE" altLang="en-US" sz="12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Frankreich</a:t>
            </a:fld>
            <a:endParaRPr lang="de-DE" sz="1200"/>
          </a:p>
        </p:txBody>
      </p:sp>
      <p:sp>
        <p:nvSpPr>
          <p:cNvPr id="576" name="Textplatzhalter 2">
            <a:extLst>
              <a:ext uri="{FF2B5EF4-FFF2-40B4-BE49-F238E27FC236}">
                <a16:creationId xmlns:a16="http://schemas.microsoft.com/office/drawing/2014/main" id="{C2FB36E7-D5D5-F62B-ED55-98D4762A5BC2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5318125" y="2967038"/>
            <a:ext cx="7604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A64DB917-6883-4459-8F76-4B5698C260B0}" type="datetime'Ni''e''''''''''''''''d''''''''''er''la''n''d''''e'''">
              <a:rPr lang="de-DE" altLang="en-US" sz="12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Niederlande</a:t>
            </a:fld>
            <a:endParaRPr lang="de-DE" sz="1200"/>
          </a:p>
        </p:txBody>
      </p:sp>
      <p:sp>
        <p:nvSpPr>
          <p:cNvPr id="577" name="Textplatzhalter 2">
            <a:extLst>
              <a:ext uri="{FF2B5EF4-FFF2-40B4-BE49-F238E27FC236}">
                <a16:creationId xmlns:a16="http://schemas.microsoft.com/office/drawing/2014/main" id="{5ADAA31A-2E05-3AFB-AE1B-DC3D0155B166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5586413" y="3352800"/>
            <a:ext cx="492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BC1564CE-E9FC-44F0-AD6D-74A3CEAC4751}" type="datetime'S''''''''''p''''''''''''a''''''''''n''ie''n'''''''''''''''''''">
              <a:rPr lang="de-DE" altLang="en-US" sz="12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Spanien</a:t>
            </a:fld>
            <a:endParaRPr lang="de-DE" sz="1200"/>
          </a:p>
        </p:txBody>
      </p:sp>
      <p:sp>
        <p:nvSpPr>
          <p:cNvPr id="650" name="Textplatzhalter 2">
            <a:extLst>
              <a:ext uri="{FF2B5EF4-FFF2-40B4-BE49-F238E27FC236}">
                <a16:creationId xmlns:a16="http://schemas.microsoft.com/office/drawing/2014/main" id="{D4A5AEB9-9778-F791-4785-D045C302C436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7570789" y="1812925"/>
            <a:ext cx="3095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83B2ED3-AF5B-4842-B5C5-A7B73E1F5C11}" type="datetime'''2''''''''''''''''''''''''''1''''''''%''''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21%</a:t>
            </a:fld>
            <a:endParaRPr lang="de-DE" sz="1200"/>
          </a:p>
        </p:txBody>
      </p:sp>
      <p:sp>
        <p:nvSpPr>
          <p:cNvPr id="651" name="Textplatzhalter 2">
            <a:extLst>
              <a:ext uri="{FF2B5EF4-FFF2-40B4-BE49-F238E27FC236}">
                <a16:creationId xmlns:a16="http://schemas.microsoft.com/office/drawing/2014/main" id="{262B7791-2005-36AD-E600-20AC2B716854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7072314" y="2197100"/>
            <a:ext cx="3095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CE732FD-A84F-4BCA-80AF-B8D13B414FF4}" type="datetime'''1''''4''''''''''''''''''''''''''%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14%</a:t>
            </a:fld>
            <a:endParaRPr lang="de-DE" sz="1200"/>
          </a:p>
        </p:txBody>
      </p:sp>
      <p:sp>
        <p:nvSpPr>
          <p:cNvPr id="652" name="Textplatzhalter 2">
            <a:extLst>
              <a:ext uri="{FF2B5EF4-FFF2-40B4-BE49-F238E27FC236}">
                <a16:creationId xmlns:a16="http://schemas.microsoft.com/office/drawing/2014/main" id="{B0B8AFC1-D31E-9B87-1A91-CCA18029405B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6869114" y="2582863"/>
            <a:ext cx="3095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032A9F8-02A1-4DB4-8ADD-0ACEDE6D292C}" type="datetime'''''1''''''''''''0''''''%''''''''''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10%</a:t>
            </a:fld>
            <a:endParaRPr lang="de-DE" sz="1200"/>
          </a:p>
        </p:txBody>
      </p:sp>
      <p:sp>
        <p:nvSpPr>
          <p:cNvPr id="653" name="Textplatzhalter 2">
            <a:extLst>
              <a:ext uri="{FF2B5EF4-FFF2-40B4-BE49-F238E27FC236}">
                <a16:creationId xmlns:a16="http://schemas.microsoft.com/office/drawing/2014/main" id="{984A2A2A-41E0-7CD5-3CD9-9BE51B8358EF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gray">
          <a:xfrm>
            <a:off x="6837364" y="2967038"/>
            <a:ext cx="3095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AF31681-A433-44FF-B94B-1721C27C6A77}" type="datetime'''''''1''''''''''''''''''0''''''''''''''%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10%</a:t>
            </a:fld>
            <a:endParaRPr lang="de-DE" sz="1200"/>
          </a:p>
        </p:txBody>
      </p:sp>
      <p:sp>
        <p:nvSpPr>
          <p:cNvPr id="654" name="Textplatzhalter 2">
            <a:extLst>
              <a:ext uri="{FF2B5EF4-FFF2-40B4-BE49-F238E27FC236}">
                <a16:creationId xmlns:a16="http://schemas.microsoft.com/office/drawing/2014/main" id="{AEF547FD-6DDA-7727-32B8-412D073CFB2C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gray">
          <a:xfrm>
            <a:off x="6792914" y="3352800"/>
            <a:ext cx="2317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7D3E73C-0B5C-4C8B-ABE7-42EBFBEF9669}" type="datetime'''9%''''''''''''''''''''''''''''''''''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9%</a:t>
            </a:fld>
            <a:endParaRPr lang="de-DE" sz="12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5DBA604-0A20-F074-990C-0BCF1C760DB4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347663" y="1693863"/>
            <a:ext cx="214313" cy="160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4031CDB-2D14-0998-0642-CC4ABADB7DD8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1485900" y="1693863"/>
            <a:ext cx="214313" cy="1603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9420771-3CDA-AD7B-9EC7-687ABF8FB948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612775" y="1689100"/>
            <a:ext cx="771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FFC6E11-6E56-40F1-9547-910C155CF563}" type="datetime'''D''eu''''''t''''''''sc''''h''''''l''''a''n''d'''''''''">
              <a:rPr lang="de-DE" altLang="en-US" sz="1200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Deutschland</a:t>
            </a:fld>
            <a:endParaRPr lang="de-DE" sz="120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BA3ACB4-D8AA-180A-4323-D1B74E6D0B27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1751013" y="1689100"/>
            <a:ext cx="1000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0170D1B-C3EA-4C7B-A5B7-96B59A006B32}" type="datetime'R''''''e''''s''''''''''''''t'''' ''''''von'' ''E''''ur''op''a'">
              <a:rPr lang="de-DE" altLang="en-US" sz="1200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Rest von Europa</a:t>
            </a:fld>
            <a:endParaRPr lang="de-DE" sz="1200"/>
          </a:p>
        </p:txBody>
      </p: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25076068-594F-08B2-8960-A8D0B70D34FE}"/>
              </a:ext>
            </a:extLst>
          </p:cNvPr>
          <p:cNvCxnSpPr/>
          <p:nvPr>
            <p:custDataLst>
              <p:tags r:id="rId58"/>
            </p:custDataLst>
          </p:nvPr>
        </p:nvCxnSpPr>
        <p:spPr bwMode="gray">
          <a:xfrm>
            <a:off x="360363" y="4270375"/>
            <a:ext cx="185738" cy="0"/>
          </a:xfrm>
          <a:prstGeom prst="line">
            <a:avLst/>
          </a:prstGeom>
          <a:ln w="28575" cap="rnd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1C4789C8-81C9-B8F8-EB45-590CDC6569EA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2028825" y="4191000"/>
            <a:ext cx="214312" cy="160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/>
          <a:lstStyle/>
          <a:p>
            <a:pPr algn="ctr"/>
            <a:endParaRPr lang="de-DE" sz="1400" b="1" err="1">
              <a:solidFill>
                <a:schemeClr val="tx2"/>
              </a:solidFill>
            </a:endParaRPr>
          </a:p>
        </p:txBody>
      </p:sp>
      <p:sp>
        <p:nvSpPr>
          <p:cNvPr id="72" name="Textplatzhalter 2">
            <a:extLst>
              <a:ext uri="{FF2B5EF4-FFF2-40B4-BE49-F238E27FC236}">
                <a16:creationId xmlns:a16="http://schemas.microsoft.com/office/drawing/2014/main" id="{3276157C-A794-AC1A-8861-4AF7E5BB7122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611187" y="4186238"/>
            <a:ext cx="13160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AB50D61-9052-4C6D-81F6-74622EEED583}" type="datetime'A''n''''z''''''ah''''''l ''Un''''''''''te''r''ne''hm''''e''n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Anzahl Unternehmen</a:t>
            </a:fld>
            <a:endParaRPr lang="de-DE" sz="1200"/>
          </a:p>
        </p:txBody>
      </p:sp>
      <p:sp>
        <p:nvSpPr>
          <p:cNvPr id="71" name="Textplatzhalter 2">
            <a:extLst>
              <a:ext uri="{FF2B5EF4-FFF2-40B4-BE49-F238E27FC236}">
                <a16:creationId xmlns:a16="http://schemas.microsoft.com/office/drawing/2014/main" id="{C0E8B3C4-E40F-D6DD-3657-00CFF09F8A31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2293938" y="4186238"/>
            <a:ext cx="11509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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064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86400" indent="-180000" algn="l" defTabSz="914400" rtl="0" eaLnBrk="1" latinLnBrk="0" hangingPunct="1">
              <a:spcBef>
                <a:spcPts val="336"/>
              </a:spcBef>
              <a:buClr>
                <a:schemeClr val="tx2"/>
              </a:buClr>
              <a:buFont typeface="Wingdings" panose="05000000000000000000" pitchFamily="2" charset="2"/>
              <a:buChar char="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B16EFA3-5B91-4E27-8016-26E4946CF217}" type="datetime'''U''m''''sa''''''''tz ''[''''i''''''n Mr''''''d.'''' ''''€]'">
              <a:rPr lang="de-DE" altLang="en-US" sz="12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Umsatz [in Mrd. €]</a:t>
            </a:fld>
            <a:endParaRPr lang="de-DE" sz="1200"/>
          </a:p>
        </p:txBody>
      </p:sp>
      <p:grpSp>
        <p:nvGrpSpPr>
          <p:cNvPr id="5" name="flag-sticker-0026">
            <a:extLst>
              <a:ext uri="{FF2B5EF4-FFF2-40B4-BE49-F238E27FC236}">
                <a16:creationId xmlns:a16="http://schemas.microsoft.com/office/drawing/2014/main" id="{EAADA37C-2EE6-7776-CC96-D1D854D55EFD}"/>
              </a:ext>
            </a:extLst>
          </p:cNvPr>
          <p:cNvGrpSpPr>
            <a:grpSpLocks noChangeAspect="1"/>
          </p:cNvGrpSpPr>
          <p:nvPr>
            <p:custDataLst>
              <p:tags r:id="rId62"/>
            </p:custDataLst>
          </p:nvPr>
        </p:nvGrpSpPr>
        <p:grpSpPr bwMode="auto">
          <a:xfrm>
            <a:off x="4619775" y="1771139"/>
            <a:ext cx="520996" cy="252000"/>
            <a:chOff x="1473" y="1424"/>
            <a:chExt cx="2813" cy="1474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D50AFF3-92F2-341E-6163-C1A13A818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424"/>
              <a:ext cx="2813" cy="491"/>
            </a:xfrm>
            <a:custGeom>
              <a:avLst/>
              <a:gdLst/>
              <a:ahLst/>
              <a:cxnLst>
                <a:cxn ang="0">
                  <a:pos x="2813" y="491"/>
                </a:cxn>
                <a:cxn ang="0">
                  <a:pos x="0" y="491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1"/>
                </a:cxn>
                <a:cxn ang="0">
                  <a:pos x="2813" y="491"/>
                </a:cxn>
              </a:cxnLst>
              <a:rect l="0" t="0" r="r" b="b"/>
              <a:pathLst>
                <a:path w="2813" h="491">
                  <a:moveTo>
                    <a:pt x="2813" y="491"/>
                  </a:moveTo>
                  <a:lnTo>
                    <a:pt x="0" y="491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1"/>
                  </a:lnTo>
                  <a:lnTo>
                    <a:pt x="2813" y="4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EC66916-7668-C2D8-C9E7-89132A58C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407"/>
              <a:ext cx="2813" cy="491"/>
            </a:xfrm>
            <a:custGeom>
              <a:avLst/>
              <a:gdLst/>
              <a:ahLst/>
              <a:cxnLst>
                <a:cxn ang="0">
                  <a:pos x="2813" y="491"/>
                </a:cxn>
                <a:cxn ang="0">
                  <a:pos x="0" y="491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1"/>
                </a:cxn>
                <a:cxn ang="0">
                  <a:pos x="2813" y="491"/>
                </a:cxn>
              </a:cxnLst>
              <a:rect l="0" t="0" r="r" b="b"/>
              <a:pathLst>
                <a:path w="2813" h="491">
                  <a:moveTo>
                    <a:pt x="2813" y="491"/>
                  </a:moveTo>
                  <a:lnTo>
                    <a:pt x="0" y="491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1"/>
                  </a:lnTo>
                  <a:lnTo>
                    <a:pt x="2813" y="491"/>
                  </a:lnTo>
                  <a:close/>
                </a:path>
              </a:pathLst>
            </a:custGeom>
            <a:solidFill>
              <a:srgbClr val="FFC61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40621F59-02A0-84BD-D9F1-C4CBFA2B4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915"/>
              <a:ext cx="2813" cy="492"/>
            </a:xfrm>
            <a:custGeom>
              <a:avLst/>
              <a:gdLst/>
              <a:ahLst/>
              <a:cxnLst>
                <a:cxn ang="0">
                  <a:pos x="2813" y="492"/>
                </a:cxn>
                <a:cxn ang="0">
                  <a:pos x="0" y="492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2"/>
                </a:cxn>
                <a:cxn ang="0">
                  <a:pos x="2813" y="492"/>
                </a:cxn>
              </a:cxnLst>
              <a:rect l="0" t="0" r="r" b="b"/>
              <a:pathLst>
                <a:path w="2813" h="492">
                  <a:moveTo>
                    <a:pt x="2813" y="492"/>
                  </a:moveTo>
                  <a:lnTo>
                    <a:pt x="0" y="492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2"/>
                  </a:lnTo>
                  <a:lnTo>
                    <a:pt x="2813" y="492"/>
                  </a:lnTo>
                  <a:close/>
                </a:path>
              </a:pathLst>
            </a:custGeom>
            <a:solidFill>
              <a:srgbClr val="E2002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0DCBA491-F056-842F-66E8-23F7F4D6D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424"/>
              <a:ext cx="2813" cy="1474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46" name="flag-sticker-0057">
            <a:extLst>
              <a:ext uri="{FF2B5EF4-FFF2-40B4-BE49-F238E27FC236}">
                <a16:creationId xmlns:a16="http://schemas.microsoft.com/office/drawing/2014/main" id="{42776DCC-F75F-675D-D417-37E22EE650F4}"/>
              </a:ext>
            </a:extLst>
          </p:cNvPr>
          <p:cNvGrpSpPr>
            <a:grpSpLocks noChangeAspect="1"/>
          </p:cNvGrpSpPr>
          <p:nvPr>
            <p:custDataLst>
              <p:tags r:id="rId63"/>
            </p:custDataLst>
          </p:nvPr>
        </p:nvGrpSpPr>
        <p:grpSpPr bwMode="auto">
          <a:xfrm>
            <a:off x="4619775" y="3318081"/>
            <a:ext cx="520996" cy="252000"/>
            <a:chOff x="1473" y="1424"/>
            <a:chExt cx="2813" cy="1474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245BB83A-8615-F2A2-523A-5AD40AF0D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424"/>
              <a:ext cx="2813" cy="14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13" y="0"/>
                </a:cxn>
                <a:cxn ang="0">
                  <a:pos x="2813" y="1474"/>
                </a:cxn>
                <a:cxn ang="0">
                  <a:pos x="0" y="147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813" h="1474">
                  <a:moveTo>
                    <a:pt x="0" y="0"/>
                  </a:moveTo>
                  <a:lnTo>
                    <a:pt x="2813" y="0"/>
                  </a:lnTo>
                  <a:lnTo>
                    <a:pt x="2813" y="1474"/>
                  </a:lnTo>
                  <a:lnTo>
                    <a:pt x="0" y="147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002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A2AD63F6-6EC1-4BBB-E8B4-AACCDC4C6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793"/>
              <a:ext cx="2813" cy="737"/>
            </a:xfrm>
            <a:custGeom>
              <a:avLst/>
              <a:gdLst/>
              <a:ahLst/>
              <a:cxnLst>
                <a:cxn ang="0">
                  <a:pos x="2813" y="737"/>
                </a:cxn>
                <a:cxn ang="0">
                  <a:pos x="0" y="737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737"/>
                </a:cxn>
                <a:cxn ang="0">
                  <a:pos x="2813" y="737"/>
                </a:cxn>
              </a:cxnLst>
              <a:rect l="0" t="0" r="r" b="b"/>
              <a:pathLst>
                <a:path w="2813" h="737">
                  <a:moveTo>
                    <a:pt x="2813" y="737"/>
                  </a:moveTo>
                  <a:lnTo>
                    <a:pt x="0" y="737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737"/>
                  </a:lnTo>
                  <a:lnTo>
                    <a:pt x="2813" y="737"/>
                  </a:lnTo>
                  <a:close/>
                </a:path>
              </a:pathLst>
            </a:custGeom>
            <a:solidFill>
              <a:srgbClr val="FFED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Rectangle 7">
              <a:extLst>
                <a:ext uri="{FF2B5EF4-FFF2-40B4-BE49-F238E27FC236}">
                  <a16:creationId xmlns:a16="http://schemas.microsoft.com/office/drawing/2014/main" id="{2094125C-C3F4-B5B2-AABD-C342E325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424"/>
              <a:ext cx="2813" cy="1474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658" name="flag-sticker-0006">
            <a:extLst>
              <a:ext uri="{FF2B5EF4-FFF2-40B4-BE49-F238E27FC236}">
                <a16:creationId xmlns:a16="http://schemas.microsoft.com/office/drawing/2014/main" id="{5130B24D-1F30-E2F5-DD57-74E97BDCCBDD}"/>
              </a:ext>
            </a:extLst>
          </p:cNvPr>
          <p:cNvGrpSpPr>
            <a:grpSpLocks noChangeAspect="1"/>
          </p:cNvGrpSpPr>
          <p:nvPr>
            <p:custDataLst>
              <p:tags r:id="rId64"/>
            </p:custDataLst>
          </p:nvPr>
        </p:nvGrpSpPr>
        <p:grpSpPr bwMode="auto">
          <a:xfrm>
            <a:off x="4619774" y="2157874"/>
            <a:ext cx="520996" cy="252000"/>
            <a:chOff x="1473" y="1424"/>
            <a:chExt cx="2813" cy="1474"/>
          </a:xfrm>
        </p:grpSpPr>
        <p:sp>
          <p:nvSpPr>
            <p:cNvPr id="659" name="Freeform 5">
              <a:extLst>
                <a:ext uri="{FF2B5EF4-FFF2-40B4-BE49-F238E27FC236}">
                  <a16:creationId xmlns:a16="http://schemas.microsoft.com/office/drawing/2014/main" id="{8C00B917-9CA5-2F4F-D88F-E93A94C6C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424"/>
              <a:ext cx="938" cy="1474"/>
            </a:xfrm>
            <a:custGeom>
              <a:avLst/>
              <a:gdLst>
                <a:gd name="T0" fmla="*/ 0 w 938"/>
                <a:gd name="T1" fmla="*/ 1474 h 1474"/>
                <a:gd name="T2" fmla="*/ 0 w 938"/>
                <a:gd name="T3" fmla="*/ 0 h 1474"/>
                <a:gd name="T4" fmla="*/ 938 w 938"/>
                <a:gd name="T5" fmla="*/ 0 h 1474"/>
                <a:gd name="T6" fmla="*/ 938 w 938"/>
                <a:gd name="T7" fmla="*/ 1474 h 1474"/>
                <a:gd name="T8" fmla="*/ 0 w 938"/>
                <a:gd name="T9" fmla="*/ 1474 h 1474"/>
                <a:gd name="T10" fmla="*/ 0 w 938"/>
                <a:gd name="T11" fmla="*/ 1474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8" h="1474">
                  <a:moveTo>
                    <a:pt x="0" y="1474"/>
                  </a:moveTo>
                  <a:lnTo>
                    <a:pt x="0" y="0"/>
                  </a:lnTo>
                  <a:lnTo>
                    <a:pt x="938" y="0"/>
                  </a:lnTo>
                  <a:lnTo>
                    <a:pt x="938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EC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60" name="Freeform 6">
              <a:extLst>
                <a:ext uri="{FF2B5EF4-FFF2-40B4-BE49-F238E27FC236}">
                  <a16:creationId xmlns:a16="http://schemas.microsoft.com/office/drawing/2014/main" id="{E5AC447E-83DB-0736-206B-E1B84CFE5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424"/>
              <a:ext cx="938" cy="1474"/>
            </a:xfrm>
            <a:custGeom>
              <a:avLst/>
              <a:gdLst>
                <a:gd name="T0" fmla="*/ 0 w 938"/>
                <a:gd name="T1" fmla="*/ 1474 h 1474"/>
                <a:gd name="T2" fmla="*/ 0 w 938"/>
                <a:gd name="T3" fmla="*/ 0 h 1474"/>
                <a:gd name="T4" fmla="*/ 938 w 938"/>
                <a:gd name="T5" fmla="*/ 0 h 1474"/>
                <a:gd name="T6" fmla="*/ 938 w 938"/>
                <a:gd name="T7" fmla="*/ 1474 h 1474"/>
                <a:gd name="T8" fmla="*/ 0 w 938"/>
                <a:gd name="T9" fmla="*/ 1474 h 1474"/>
                <a:gd name="T10" fmla="*/ 0 w 938"/>
                <a:gd name="T11" fmla="*/ 1474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8" h="1474">
                  <a:moveTo>
                    <a:pt x="0" y="1474"/>
                  </a:moveTo>
                  <a:lnTo>
                    <a:pt x="0" y="0"/>
                  </a:lnTo>
                  <a:lnTo>
                    <a:pt x="938" y="0"/>
                  </a:lnTo>
                  <a:lnTo>
                    <a:pt x="938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61" name="Freeform 7">
              <a:extLst>
                <a:ext uri="{FF2B5EF4-FFF2-40B4-BE49-F238E27FC236}">
                  <a16:creationId xmlns:a16="http://schemas.microsoft.com/office/drawing/2014/main" id="{809A7308-AB77-C824-1CA1-47E3D452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1424"/>
              <a:ext cx="937" cy="1474"/>
            </a:xfrm>
            <a:custGeom>
              <a:avLst/>
              <a:gdLst>
                <a:gd name="T0" fmla="*/ 0 w 937"/>
                <a:gd name="T1" fmla="*/ 1474 h 1474"/>
                <a:gd name="T2" fmla="*/ 0 w 937"/>
                <a:gd name="T3" fmla="*/ 0 h 1474"/>
                <a:gd name="T4" fmla="*/ 937 w 937"/>
                <a:gd name="T5" fmla="*/ 0 h 1474"/>
                <a:gd name="T6" fmla="*/ 937 w 937"/>
                <a:gd name="T7" fmla="*/ 1474 h 1474"/>
                <a:gd name="T8" fmla="*/ 0 w 937"/>
                <a:gd name="T9" fmla="*/ 1474 h 1474"/>
                <a:gd name="T10" fmla="*/ 0 w 937"/>
                <a:gd name="T11" fmla="*/ 1474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7" h="1474">
                  <a:moveTo>
                    <a:pt x="0" y="1474"/>
                  </a:moveTo>
                  <a:lnTo>
                    <a:pt x="0" y="0"/>
                  </a:lnTo>
                  <a:lnTo>
                    <a:pt x="937" y="0"/>
                  </a:lnTo>
                  <a:lnTo>
                    <a:pt x="937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FFC6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62" name="Rectangle 8">
              <a:extLst>
                <a:ext uri="{FF2B5EF4-FFF2-40B4-BE49-F238E27FC236}">
                  <a16:creationId xmlns:a16="http://schemas.microsoft.com/office/drawing/2014/main" id="{E4BF05F5-BE8F-73E0-B7F8-A06C344C1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424"/>
              <a:ext cx="2813" cy="1474"/>
            </a:xfrm>
            <a:prstGeom prst="rect">
              <a:avLst/>
            </a:prstGeom>
            <a:noFill/>
            <a:ln w="2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21" name="flag-sticker-0025">
            <a:extLst>
              <a:ext uri="{FF2B5EF4-FFF2-40B4-BE49-F238E27FC236}">
                <a16:creationId xmlns:a16="http://schemas.microsoft.com/office/drawing/2014/main" id="{8A3A7D82-C81B-589D-8862-1A82EF12D4F9}"/>
              </a:ext>
            </a:extLst>
          </p:cNvPr>
          <p:cNvGrpSpPr>
            <a:grpSpLocks noChangeAspect="1"/>
          </p:cNvGrpSpPr>
          <p:nvPr>
            <p:custDataLst>
              <p:tags r:id="rId65"/>
            </p:custDataLst>
          </p:nvPr>
        </p:nvGrpSpPr>
        <p:grpSpPr bwMode="auto">
          <a:xfrm>
            <a:off x="4619774" y="2544609"/>
            <a:ext cx="520996" cy="252000"/>
            <a:chOff x="1473" y="1424"/>
            <a:chExt cx="2813" cy="1474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0A0E6D5C-BD18-1C90-13A1-4D3B8A56E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424"/>
              <a:ext cx="938" cy="1474"/>
            </a:xfrm>
            <a:custGeom>
              <a:avLst/>
              <a:gdLst/>
              <a:ahLst/>
              <a:cxnLst>
                <a:cxn ang="0">
                  <a:pos x="0" y="1474"/>
                </a:cxn>
                <a:cxn ang="0">
                  <a:pos x="0" y="0"/>
                </a:cxn>
                <a:cxn ang="0">
                  <a:pos x="938" y="0"/>
                </a:cxn>
                <a:cxn ang="0">
                  <a:pos x="938" y="1474"/>
                </a:cxn>
                <a:cxn ang="0">
                  <a:pos x="0" y="1474"/>
                </a:cxn>
                <a:cxn ang="0">
                  <a:pos x="0" y="1474"/>
                </a:cxn>
              </a:cxnLst>
              <a:rect l="0" t="0" r="r" b="b"/>
              <a:pathLst>
                <a:path w="938" h="1474">
                  <a:moveTo>
                    <a:pt x="0" y="1474"/>
                  </a:moveTo>
                  <a:lnTo>
                    <a:pt x="0" y="0"/>
                  </a:lnTo>
                  <a:lnTo>
                    <a:pt x="938" y="0"/>
                  </a:lnTo>
                  <a:lnTo>
                    <a:pt x="938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E2002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A50039D7-30A1-06E0-E1A3-A139893C4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424"/>
              <a:ext cx="938" cy="1474"/>
            </a:xfrm>
            <a:custGeom>
              <a:avLst/>
              <a:gdLst/>
              <a:ahLst/>
              <a:cxnLst>
                <a:cxn ang="0">
                  <a:pos x="0" y="1474"/>
                </a:cxn>
                <a:cxn ang="0">
                  <a:pos x="0" y="0"/>
                </a:cxn>
                <a:cxn ang="0">
                  <a:pos x="938" y="0"/>
                </a:cxn>
                <a:cxn ang="0">
                  <a:pos x="938" y="1474"/>
                </a:cxn>
                <a:cxn ang="0">
                  <a:pos x="0" y="1474"/>
                </a:cxn>
                <a:cxn ang="0">
                  <a:pos x="0" y="1474"/>
                </a:cxn>
              </a:cxnLst>
              <a:rect l="0" t="0" r="r" b="b"/>
              <a:pathLst>
                <a:path w="938" h="1474">
                  <a:moveTo>
                    <a:pt x="0" y="1474"/>
                  </a:moveTo>
                  <a:lnTo>
                    <a:pt x="0" y="0"/>
                  </a:lnTo>
                  <a:lnTo>
                    <a:pt x="938" y="0"/>
                  </a:lnTo>
                  <a:lnTo>
                    <a:pt x="938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00467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2FE0A3A7-9093-1882-921E-7BD27FC1A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1424"/>
              <a:ext cx="937" cy="1474"/>
            </a:xfrm>
            <a:custGeom>
              <a:avLst/>
              <a:gdLst/>
              <a:ahLst/>
              <a:cxnLst>
                <a:cxn ang="0">
                  <a:pos x="0" y="1474"/>
                </a:cxn>
                <a:cxn ang="0">
                  <a:pos x="0" y="0"/>
                </a:cxn>
                <a:cxn ang="0">
                  <a:pos x="937" y="0"/>
                </a:cxn>
                <a:cxn ang="0">
                  <a:pos x="937" y="1474"/>
                </a:cxn>
                <a:cxn ang="0">
                  <a:pos x="0" y="1474"/>
                </a:cxn>
                <a:cxn ang="0">
                  <a:pos x="0" y="1474"/>
                </a:cxn>
              </a:cxnLst>
              <a:rect l="0" t="0" r="r" b="b"/>
              <a:pathLst>
                <a:path w="937" h="1474">
                  <a:moveTo>
                    <a:pt x="0" y="1474"/>
                  </a:moveTo>
                  <a:lnTo>
                    <a:pt x="0" y="0"/>
                  </a:lnTo>
                  <a:lnTo>
                    <a:pt x="937" y="0"/>
                  </a:lnTo>
                  <a:lnTo>
                    <a:pt x="937" y="1474"/>
                  </a:lnTo>
                  <a:lnTo>
                    <a:pt x="0" y="1474"/>
                  </a:lnTo>
                  <a:lnTo>
                    <a:pt x="0" y="147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DECA1170-B4CB-5D76-9CB8-270E564D0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424"/>
              <a:ext cx="2813" cy="1474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28" name="flag-sticker-0062">
            <a:extLst>
              <a:ext uri="{FF2B5EF4-FFF2-40B4-BE49-F238E27FC236}">
                <a16:creationId xmlns:a16="http://schemas.microsoft.com/office/drawing/2014/main" id="{401DD6C2-5299-B7A4-BB4E-D316C17DADA4}"/>
              </a:ext>
            </a:extLst>
          </p:cNvPr>
          <p:cNvGrpSpPr>
            <a:grpSpLocks noChangeAspect="1"/>
          </p:cNvGrpSpPr>
          <p:nvPr>
            <p:custDataLst>
              <p:tags r:id="rId66"/>
            </p:custDataLst>
          </p:nvPr>
        </p:nvGrpSpPr>
        <p:grpSpPr bwMode="auto">
          <a:xfrm>
            <a:off x="4619775" y="2931345"/>
            <a:ext cx="520997" cy="252000"/>
            <a:chOff x="1473" y="1424"/>
            <a:chExt cx="2813" cy="1474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4697D998-062B-7E80-BDF1-DBC4615E4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424"/>
              <a:ext cx="2813" cy="491"/>
            </a:xfrm>
            <a:custGeom>
              <a:avLst/>
              <a:gdLst/>
              <a:ahLst/>
              <a:cxnLst>
                <a:cxn ang="0">
                  <a:pos x="2813" y="491"/>
                </a:cxn>
                <a:cxn ang="0">
                  <a:pos x="0" y="491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1"/>
                </a:cxn>
                <a:cxn ang="0">
                  <a:pos x="2813" y="491"/>
                </a:cxn>
              </a:cxnLst>
              <a:rect l="0" t="0" r="r" b="b"/>
              <a:pathLst>
                <a:path w="2813" h="491">
                  <a:moveTo>
                    <a:pt x="2813" y="491"/>
                  </a:moveTo>
                  <a:lnTo>
                    <a:pt x="0" y="491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1"/>
                  </a:lnTo>
                  <a:lnTo>
                    <a:pt x="2813" y="491"/>
                  </a:lnTo>
                  <a:close/>
                </a:path>
              </a:pathLst>
            </a:custGeom>
            <a:solidFill>
              <a:srgbClr val="EC1C2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64DACAB-7A32-DDD3-AF6B-5BF5DDA58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407"/>
              <a:ext cx="2813" cy="491"/>
            </a:xfrm>
            <a:custGeom>
              <a:avLst/>
              <a:gdLst/>
              <a:ahLst/>
              <a:cxnLst>
                <a:cxn ang="0">
                  <a:pos x="2813" y="491"/>
                </a:cxn>
                <a:cxn ang="0">
                  <a:pos x="0" y="491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1"/>
                </a:cxn>
                <a:cxn ang="0">
                  <a:pos x="2813" y="491"/>
                </a:cxn>
              </a:cxnLst>
              <a:rect l="0" t="0" r="r" b="b"/>
              <a:pathLst>
                <a:path w="2813" h="491">
                  <a:moveTo>
                    <a:pt x="2813" y="491"/>
                  </a:moveTo>
                  <a:lnTo>
                    <a:pt x="0" y="491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1"/>
                  </a:lnTo>
                  <a:lnTo>
                    <a:pt x="2813" y="491"/>
                  </a:lnTo>
                  <a:close/>
                </a:path>
              </a:pathLst>
            </a:custGeom>
            <a:solidFill>
              <a:srgbClr val="0063A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A33AD05C-21B8-4FC3-7FD1-F53DC269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915"/>
              <a:ext cx="2813" cy="492"/>
            </a:xfrm>
            <a:custGeom>
              <a:avLst/>
              <a:gdLst/>
              <a:ahLst/>
              <a:cxnLst>
                <a:cxn ang="0">
                  <a:pos x="2813" y="492"/>
                </a:cxn>
                <a:cxn ang="0">
                  <a:pos x="0" y="492"/>
                </a:cxn>
                <a:cxn ang="0">
                  <a:pos x="0" y="0"/>
                </a:cxn>
                <a:cxn ang="0">
                  <a:pos x="2813" y="0"/>
                </a:cxn>
                <a:cxn ang="0">
                  <a:pos x="2813" y="492"/>
                </a:cxn>
                <a:cxn ang="0">
                  <a:pos x="2813" y="492"/>
                </a:cxn>
              </a:cxnLst>
              <a:rect l="0" t="0" r="r" b="b"/>
              <a:pathLst>
                <a:path w="2813" h="492">
                  <a:moveTo>
                    <a:pt x="2813" y="492"/>
                  </a:moveTo>
                  <a:lnTo>
                    <a:pt x="0" y="492"/>
                  </a:lnTo>
                  <a:lnTo>
                    <a:pt x="0" y="0"/>
                  </a:lnTo>
                  <a:lnTo>
                    <a:pt x="2813" y="0"/>
                  </a:lnTo>
                  <a:lnTo>
                    <a:pt x="2813" y="492"/>
                  </a:lnTo>
                  <a:lnTo>
                    <a:pt x="2813" y="49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Rectangle 8">
              <a:extLst>
                <a:ext uri="{FF2B5EF4-FFF2-40B4-BE49-F238E27FC236}">
                  <a16:creationId xmlns:a16="http://schemas.microsoft.com/office/drawing/2014/main" id="{EA56E3AC-3CD9-9A32-B32F-24A931499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424"/>
              <a:ext cx="2813" cy="1474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740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7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2A&quot; g=&quot;2A&quot; b=&quot;FF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ABEL-urn:wieselhuber:quickSlide:basic:slides#WieselhuberLabels\e82f5e31-1a56-4022-a480-d7cf572c272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LMGDDDomI4v5.cj7pCk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IFp3e3awCl1L1guqYx6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NEvrwJ39z.kaJ8M0wPi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TuDyiqxKbduZ26oJNhmV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twYbEYjpNcaOOKie9b5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0EC.K0z43E972qR6uB7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riltEYoMOYfDcx_FGVu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h5WJeqT06ERgB2OawxT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S8BF8B2Mq2HFcVt3.gf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B1IoemMwv0gF631eSn3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jxyqVoVlauO4bHTdSSim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4r7bsZuvCgv1Y1YmOMI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N9aSrkUp4ta_.sACXMe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RF6rb6ZiFaNJNPj03Jk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9ZjgQuwNruueltMMiDYo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pjIeX1mPbSD1.a56UHi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5o09PeqPCbt_65sR.NI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HWx1sY6O6eMEFkPUVlP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j_S1bBB1AdP5aN5jN.6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JV.Wve9b_WHBq3J1f3i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cUDiCMQhSVCwQ2oJvMb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pf61gdORnsPs5kIzeDm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tdScOQL.T8x3_OOMT6N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hDurGNn9B_9CMvd_qId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tmjXuVtos.fuQQ4nZcQ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Z5dbHB2i1DQ6UaR6Ck0q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DZzgYk4wt3lIaqHbaH6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UqVTqoR79Ej2Nu1sd31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koCIbPFqFuKcDdFWTog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y_EbriXO1sNk1P5BzDU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olsF59.7gwTO2LRqw48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WEdlhZveZrjB4hHJnVy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UvMnr8fnwGS1JNfNCk7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9xns8jIolyrc.rRY9ea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dEJuUoxDQgzcVRvVtJQ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BISWsch2JDfyV36qJ00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43rRwavllATfOc4lIDhw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6wI9G8BZ36rHbR2xAUv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e27MKBpM0lq0mCZxFep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C_dJpaswbYQ5dsRaXEH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XqeIKGl2LHaC7jXUYuJ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I8OmAsEa3aYvx7M4zwr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AWT0kdGKOeDvYsULlbi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BlFwEMPk7f6gE6UCFAG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rkRSUb0TgxWGZINWCcq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tAw8QonKGYkpuHop81Q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e2n2CzB9oGbQapqBUoT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I5H90GSbJbTa12Ng_Ud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AXMWH3sy.GjJhJqGjkq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DIDgjQokphsx2M_FAg3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itJd.ErilegR4Yhef4W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46b558g_RPv3sqlcOd9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bkjePD73wOKUeafmevr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9rmzUoVMXVLnmm0mDqe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sSaSncb32_OY5j73SFF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duxmBmXRgJM0PnGoG4K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A96_rjI1ZDHbrVLVTU4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IsWhAfk.8_J5iZYKZzK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DuiufOQaCmPuLw6U_be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ag-sticker-002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ag-sticker-005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ag-sticker-000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ag-sticker-002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ag-sticker-006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ootNoteFul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XUcL4DXiEuFO0Dr0XtJrw"/>
</p:tagLst>
</file>

<file path=ppt/theme/theme1.xml><?xml version="1.0" encoding="utf-8"?>
<a:theme xmlns:a="http://schemas.openxmlformats.org/drawingml/2006/main" name="Dr. Wieselhuber und Partner 16zu9">
  <a:themeElements>
    <a:clrScheme name="Dr. Wieselhuber &amp; Partner">
      <a:dk1>
        <a:srgbClr val="000000"/>
      </a:dk1>
      <a:lt1>
        <a:sysClr val="window" lastClr="FFFFFF"/>
      </a:lt1>
      <a:dk2>
        <a:srgbClr val="000055"/>
      </a:dk2>
      <a:lt2>
        <a:srgbClr val="FFFFFF"/>
      </a:lt2>
      <a:accent1>
        <a:srgbClr val="000055"/>
      </a:accent1>
      <a:accent2>
        <a:srgbClr val="6688BB"/>
      </a:accent2>
      <a:accent3>
        <a:srgbClr val="BBCCEE"/>
      </a:accent3>
      <a:accent4>
        <a:srgbClr val="E4E4F6"/>
      </a:accent4>
      <a:accent5>
        <a:srgbClr val="999999"/>
      </a:accent5>
      <a:accent6>
        <a:srgbClr val="D2D2D2"/>
      </a:accent6>
      <a:hlink>
        <a:srgbClr val="BBCCEE"/>
      </a:hlink>
      <a:folHlink>
        <a:srgbClr val="E4E4F6"/>
      </a:folHlink>
    </a:clrScheme>
    <a:fontScheme name="Dr. Wieselhuber &amp; Partn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75600" tIns="75600" rIns="75600" bIns="75600" rtlCol="0" anchor="ctr"/>
      <a:lstStyle>
        <a:defPPr algn="ctr">
          <a:defRPr sz="1400" b="1"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wrap="square" lIns="75600" tIns="75600" rIns="75600" bIns="75600" rtlCol="0">
        <a:noAutofit/>
      </a:bodyPr>
      <a:lstStyle>
        <a:defPPr marL="180000" indent="-180000">
          <a:spcBef>
            <a:spcPts val="336"/>
          </a:spcBef>
          <a:buClr>
            <a:schemeClr val="tx2"/>
          </a:buClr>
          <a:buFont typeface="Wingdings 2" panose="05020102010507070707" pitchFamily="18" charset="2"/>
          <a:buChar char=""/>
          <a:defRPr sz="1400" dirty="0" smtClean="0">
            <a:solidFill>
              <a:schemeClr val="tx2"/>
            </a:solidFill>
          </a:defRPr>
        </a:defPPr>
      </a:lstStyle>
    </a:txDef>
  </a:objectDefaults>
  <a:extraClrSchemeLst/>
  <a:custClrLst>
    <a:custClr>
      <a:srgbClr val="696969"/>
    </a:custClr>
    <a:custClr>
      <a:srgbClr val="AA0000"/>
    </a:custClr>
    <a:custClr>
      <a:srgbClr val="800000"/>
    </a:custClr>
  </a:custClrLst>
  <a:extLst>
    <a:ext uri="{05A4C25C-085E-4340-85A3-A5531E510DB2}">
      <thm15:themeFamily xmlns:thm15="http://schemas.microsoft.com/office/thememl/2012/main" name="Dr.Wieselhuber und Partner 16zu9" id="{21BD5C58-027D-449F-866B-7E3A9305843E}" vid="{034062F8-9AFE-4CC6-8A3B-2F3C15274C7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773225A3F2A3C4C8EDF7F273B87F2C9" ma:contentTypeVersion="26" ma:contentTypeDescription="Ein neues Dokument erstellen." ma:contentTypeScope="" ma:versionID="4a54cc1818439f5bbd61af1389349bb7">
  <xsd:schema xmlns:xsd="http://www.w3.org/2001/XMLSchema" xmlns:xs="http://www.w3.org/2001/XMLSchema" xmlns:p="http://schemas.microsoft.com/office/2006/metadata/properties" xmlns:ns2="40f73c17-a26f-4f8f-b99b-e2856ce3a829" xmlns:ns4="3012be31-8395-44a9-97a5-3c73eb043596" xmlns:ns5="{listid:Arbeitsdokumente}" xmlns:ns6="4ae5d5cb-a9f3-40ed-a922-430d41780be2" targetNamespace="http://schemas.microsoft.com/office/2006/metadata/properties" ma:root="true" ma:fieldsID="ffcd2221fcb62d06d7ee1d09b2ba977a" ns2:_="" ns4:_="" ns5:_="" ns6:_="">
    <xsd:import namespace="40f73c17-a26f-4f8f-b99b-e2856ce3a829"/>
    <xsd:import namespace="3012be31-8395-44a9-97a5-3c73eb043596"/>
    <xsd:import namespace="{listid:Arbeitsdokumente}"/>
    <xsd:import namespace="4ae5d5cb-a9f3-40ed-a922-430d41780be2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ba4f3f7782ca4fe0b8e096a1d9357824" minOccurs="0"/>
                <xsd:element ref="ns2:kea6de0386844db6ab58ca8f934d88b5" minOccurs="0"/>
                <xsd:element ref="ns4:Dokumentenart" minOccurs="0"/>
                <xsd:element ref="ns5:Ansprechpartner" minOccurs="0"/>
                <xsd:element ref="ns6:MediaServiceMetadata" minOccurs="0"/>
                <xsd:element ref="ns6:MediaServiceFastMetadata" minOccurs="0"/>
                <xsd:element ref="ns6:MediaServiceAutoTags" minOccurs="0"/>
                <xsd:element ref="ns6:MediaServiceOCR" minOccurs="0"/>
                <xsd:element ref="ns6:MediaServiceGenerationTime" minOccurs="0"/>
                <xsd:element ref="ns6:MediaServiceEventHashCode" minOccurs="0"/>
                <xsd:element ref="ns6:MediaServiceAutoKeyPoints" minOccurs="0"/>
                <xsd:element ref="ns6:MediaServiceKeyPoints" minOccurs="0"/>
                <xsd:element ref="ns6:MediaServiceDateTaken" minOccurs="0"/>
                <xsd:element ref="ns6:MediaServiceLocation" minOccurs="0"/>
                <xsd:element ref="ns6:MediaLengthInSeconds" minOccurs="0"/>
                <xsd:element ref="ns2:SharedWithUsers" minOccurs="0"/>
                <xsd:element ref="ns2:SharedWithDetails" minOccurs="0"/>
                <xsd:element ref="ns6:MediaServiceObjectDetectorVersions" minOccurs="0"/>
                <xsd:element ref="ns6:lcf76f155ced4ddcb4097134ff3c332f" minOccurs="0"/>
                <xsd:element ref="ns6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73c17-a26f-4f8f-b99b-e2856ce3a82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Freier Tag" ma:fieldId="{23f27201-bee3-471e-b2e7-b64fd8b7ca38}" ma:taxonomyMulti="true" ma:sspId="3d7b7970-deaf-4016-b674-4b99a0d2e99c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description="" ma:hidden="true" ma:list="{32c10001-55e6-4323-8d51-f4f06878a838}" ma:internalName="TaxCatchAll" ma:showField="CatchAllData" ma:web="40f73c17-a26f-4f8f-b99b-e2856ce3a8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a4f3f7782ca4fe0b8e096a1d9357824" ma:index="12" nillable="true" ma:taxonomy="true" ma:internalName="ba4f3f7782ca4fe0b8e096a1d9357824" ma:taxonomyFieldName="Kompetenzen" ma:displayName="Kompetenzen" ma:default="" ma:fieldId="{ba4f3f77-82ca-4fe0-b8e0-96a1d9357824}" ma:taxonomyMulti="true" ma:sspId="3d7b7970-deaf-4016-b674-4b99a0d2e99c" ma:termSetId="284dd637-5d79-4e84-b0fb-0be2e2c52d3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ea6de0386844db6ab58ca8f934d88b5" ma:index="14" nillable="true" ma:taxonomy="true" ma:internalName="kea6de0386844db6ab58ca8f934d88b5" ma:taxonomyFieldName="Branche" ma:displayName="Branche" ma:default="" ma:fieldId="{4ea6de03-8684-4db6-ab58-ca8f934d88b5}" ma:taxonomyMulti="true" ma:sspId="3d7b7970-deaf-4016-b674-4b99a0d2e99c" ma:termSetId="963bd89b-5b5e-4852-af69-8bba82ffddc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2be31-8395-44a9-97a5-3c73eb043596" elementFormDefault="qualified">
    <xsd:import namespace="http://schemas.microsoft.com/office/2006/documentManagement/types"/>
    <xsd:import namespace="http://schemas.microsoft.com/office/infopath/2007/PartnerControls"/>
    <xsd:element name="Dokumentenart" ma:index="15" nillable="true" ma:displayName="Dokumentenart" ma:default="----" ma:format="Dropdown" ma:internalName="Dokumentenart">
      <xsd:simpleType>
        <xsd:restriction base="dms:Choice">
          <xsd:enumeration value="----"/>
          <xsd:enumeration value="Agenda"/>
          <xsd:enumeration value="Auftragsbestätigung"/>
          <xsd:enumeration value="Bericht"/>
          <xsd:enumeration value="Diverses"/>
          <xsd:enumeration value="Korrespondenz"/>
          <xsd:enumeration value="Memo"/>
          <xsd:enumeration value="Projektangebot"/>
          <xsd:enumeration value="Protokolle"/>
          <xsd:enumeration value="Vorlagen"/>
          <xsd:enumeration value="Vorträge"/>
          <xsd:enumeration value="Richtlinien"/>
          <xsd:enumeration value="Veröffentlichungen"/>
          <xsd:enumeration value="Kundendate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{listid:Arbeitsdokumente}" elementFormDefault="qualified">
    <xsd:import namespace="http://schemas.microsoft.com/office/2006/documentManagement/types"/>
    <xsd:import namespace="http://schemas.microsoft.com/office/infopath/2007/PartnerControls"/>
    <xsd:element name="Ansprechpartner" ma:index="16" nillable="true" ma:displayName="Ansprechpartner" ma:list="UserInfo" ma:SharePointGroup="0" ma:internalName="Ansprechpart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e5d5cb-a9f3-40ed-a922-430d41780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2" nillable="true" ma:taxonomy="true" ma:internalName="lcf76f155ced4ddcb4097134ff3c332f" ma:taxonomyFieldName="MediaServiceImageTags" ma:displayName="Bildmarkierungen" ma:readOnly="false" ma:fieldId="{5cf76f15-5ced-4ddc-b409-7134ff3c332f}" ma:taxonomyMulti="true" ma:sspId="3d7b7970-deaf-4016-b674-4b99a0d2e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qs:outline xmlns:qs="urn:strategyCompass:quickSlide:basic:outline:2014">
  <qs:settings>
    <qs:designID>WieselhuberOutline</qs:designID>
    <qs:designGroup>Wieselhuber</qs:designGroup>
    <qs:numberingChecked>True</qs:numberingChecked>
    <qs:subNumberingChecked>True</qs:subNumberingChecked>
    <qs:pagesNumberChecked>True</qs:pagesNumberChecked>
    <qs:topicsChecked>True</qs:topicsChecked>
    <qs:subtopicsChecked>True</qs:subtopicsChecked>
    <qs:extratopicsChecked>False</qs:extratopicsChecked>
    <qs:overviewChecked>True</qs:overviewChecked>
    <qs:chapterNumberOnSlidesChecked>False</qs:chapterNumberOnSlidesChecked>
    <qs:chapterNameOnSlidesChecked>True</qs:chapterNameOnSlidesChecked>
    <qs:autoUpdateChecked>False</qs:autoUpdateChecked>
    <qs:subChaptersOnlyOnActiveChapter>False</qs:subChaptersOnlyOnActiveChapter>
    <qs:separatorOnlyActiveChapterChecked>False</qs:separatorOnlyActiveChapterChecked>
    <qs:overviewWithSubchaptersChecked>True</qs:overviewWithSubchaptersChecked>
    <qs:sectionsChecked>False</qs:sectionsChecked>
    <qs:navigationChecked>True</qs:navigationChecked>
    <qs:navigationSubChecked>False</qs:navigationSubChecked>
    <qs:linkChecked>False</qs:linkChecked>
  </qs:settings>
  <qs:title>Inhaltsverzeichnis</qs:title>
  <qs:overviewpage>2147473507</qs:overviewpage>
  <qs:chapter>
    <qs:id>2147482036</qs:id>
    <qs:pageNr>3</qs:pageNr>
    <qs:slideIndex>6</qs:slideIndex>
    <qs:title>Checkliste Ist-Analyse</qs:title>
    <qs:navText/>
    <qs:number>1</qs:number>
    <qs:position>1</qs:position>
    <qs:level>0</qs:level>
  </qs:chapter>
  <qs:chapter>
    <qs:id>2147473508</qs:id>
    <qs:pageNr>6</qs:pageNr>
    <qs:slideIndex>9</qs:slideIndex>
    <qs:title>Standard-Folien mit Erläuterung</qs:title>
    <qs:navText/>
    <qs:number>2</qs:number>
    <qs:position>2</qs:position>
    <qs:level>0</qs:level>
    <qs:chapter>
      <qs:id>2147473508</qs:id>
      <qs:pageNr>6</qs:pageNr>
      <qs:slideIndex>9</qs:slideIndex>
      <qs:title>Unternehmensprofil, Standorte und Historie</qs:title>
      <qs:navText/>
      <qs:number>2.1</qs:number>
      <qs:position>1</qs:position>
      <qs:level>1</qs:level>
    </qs:chapter>
    <qs:chapter>
      <qs:id>2147473509</qs:id>
      <qs:pageNr>23</qs:pageNr>
      <qs:slideIndex>26</qs:slideIndex>
      <qs:title>Organisatorische und rechtliche Verhältnisse</qs:title>
      <qs:navText/>
      <qs:number>2.2</qs:number>
      <qs:position>2</qs:position>
      <qs:level>1</qs:level>
    </qs:chapter>
    <qs:chapter>
      <qs:id>2147473510</qs:id>
      <qs:pageNr>32</qs:pageNr>
      <qs:slideIndex>35</qs:slideIndex>
      <qs:title>Geschäftsfelder und Produkte</qs:title>
      <qs:navText/>
      <qs:number>2.3</qs:number>
      <qs:position>3</qs:position>
      <qs:level>1</qs:level>
    </qs:chapter>
  </qs:chapter>
  <qs:chapter>
    <qs:id>2147473518</qs:id>
    <qs:pageNr>39</qs:pageNr>
    <qs:slideIndex>42</qs:slideIndex>
    <qs:title>Finanzwirtschaftliche Analyse</qs:title>
    <qs:navText/>
    <qs:number>3</qs:number>
    <qs:position>3</qs:position>
    <qs:level>0</qs:level>
    <qs:chapter>
      <qs:id>2147473518</qs:id>
      <qs:pageNr>39</qs:pageNr>
      <qs:slideIndex>42</qs:slideIndex>
      <qs:title>GuV Analysen</qs:title>
      <qs:navText/>
      <qs:number>3.1</qs:number>
      <qs:position>1</qs:position>
      <qs:level>1</qs:level>
    </qs:chapter>
    <qs:chapter>
      <qs:id>2147473519</qs:id>
      <qs:pageNr>61</qs:pageNr>
      <qs:slideIndex>64</qs:slideIndex>
      <qs:title>EBIT Brücken</qs:title>
      <qs:navText/>
      <qs:number>3.2</qs:number>
      <qs:position>2</qs:position>
      <qs:level>1</qs:level>
    </qs:chapter>
    <qs:chapter>
      <qs:id>2147473523</qs:id>
      <qs:pageNr>64</qs:pageNr>
      <qs:slideIndex>67</qs:slideIndex>
      <qs:title>Bilanz Analysen</qs:title>
      <qs:navText/>
      <qs:number>3.3</qs:number>
      <qs:position>3</qs:position>
      <qs:level>1</qs:level>
    </qs:chapter>
    <qs:chapter>
      <qs:id>2147473524</qs:id>
      <qs:pageNr>79</qs:pageNr>
      <qs:slideIndex>82</qs:slideIndex>
      <qs:title>Cash Flow Analysen</qs:title>
      <qs:navText/>
      <qs:number>3.4</qs:number>
      <qs:position>4</qs:position>
      <qs:level>1</qs:level>
    </qs:chapter>
  </qs:chapter>
  <qs:chapter>
    <qs:id>2147473528</qs:id>
    <qs:pageNr>84</qs:pageNr>
    <qs:slideIndex>87</qs:slideIndex>
    <qs:title>Leistungswirtschaftliche Analyse</qs:title>
    <qs:navText/>
    <qs:number>4</qs:number>
    <qs:position>4</qs:position>
    <qs:level>0</qs:level>
  </qs:chapter>
  <qs:chapter>
    <qs:id>2147473533</qs:id>
    <qs:pageNr>111</qs:pageNr>
    <qs:slideIndex>114</qs:slideIndex>
    <qs:title>Markt- und Wettbewerbsanalyse</qs:title>
    <qs:navText/>
    <qs:number>5</qs:number>
    <qs:position>5</qs:position>
    <qs:level>0</qs:level>
  </qs:chapter>
  <qs:chapter>
    <qs:id>2147482023</qs:id>
    <qs:pageNr>118</qs:pageNr>
    <qs:slideIndex>121</qs:slideIndex>
    <qs:title>Unternehmensbewertung</qs:title>
    <qs:navText/>
    <qs:number>6</qs:number>
    <qs:position>6</qs:position>
    <qs:level>0</qs:level>
    <qs:chapter>
      <qs:id>2147482023</qs:id>
      <qs:pageNr>118</qs:pageNr>
      <qs:slideIndex>121</qs:slideIndex>
      <qs:title>DCF-Verfahren</qs:title>
      <qs:navText/>
      <qs:number>6.1</qs:number>
      <qs:position>1</qs:position>
      <qs:level>1</qs:level>
    </qs:chapter>
    <qs:chapter>
      <qs:id>2147482024</qs:id>
      <qs:pageNr>122</qs:pageNr>
      <qs:slideIndex>125</qs:slideIndex>
      <qs:title>Zusammenfassung der Multiple-Ergebnisse</qs:title>
      <qs:navText/>
      <qs:number>6.2</qs:number>
      <qs:position>2</qs:position>
      <qs:level>1</qs:level>
    </qs:chapter>
    <qs:chapter>
      <qs:id>2147482025</qs:id>
      <qs:pageNr>125</qs:pageNr>
      <qs:slideIndex>128</qs:slideIndex>
      <qs:title>Indikative Bewertung nach dem Multiple-Verfahren</qs:title>
      <qs:navText/>
      <qs:number>6.3</qs:number>
      <qs:position>3</qs:position>
      <qs:level>1</qs:level>
    </qs:chapter>
  </qs:chapter>
</qs:outline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a6de0386844db6ab58ca8f934d88b5 xmlns="40f73c17-a26f-4f8f-b99b-e2856ce3a829">
      <Terms xmlns="http://schemas.microsoft.com/office/infopath/2007/PartnerControls"/>
    </kea6de0386844db6ab58ca8f934d88b5>
    <TaxCatchAll xmlns="40f73c17-a26f-4f8f-b99b-e2856ce3a829" xsi:nil="true"/>
    <TaxKeywordTaxHTField xmlns="40f73c17-a26f-4f8f-b99b-e2856ce3a829">
      <Terms xmlns="http://schemas.microsoft.com/office/infopath/2007/PartnerControls"/>
    </TaxKeywordTaxHTField>
    <Ansprechpartner xmlns="{listid:Arbeitsdokumente}">
      <UserInfo>
        <DisplayName/>
        <AccountId xsi:nil="true"/>
        <AccountType/>
      </UserInfo>
    </Ansprechpartner>
    <lcf76f155ced4ddcb4097134ff3c332f xmlns="4ae5d5cb-a9f3-40ed-a922-430d41780be2">
      <Terms xmlns="http://schemas.microsoft.com/office/infopath/2007/PartnerControls"/>
    </lcf76f155ced4ddcb4097134ff3c332f>
    <Dokumentenart xmlns="3012be31-8395-44a9-97a5-3c73eb043596">----</Dokumentenart>
    <ba4f3f7782ca4fe0b8e096a1d9357824 xmlns="40f73c17-a26f-4f8f-b99b-e2856ce3a829">
      <Terms xmlns="http://schemas.microsoft.com/office/infopath/2007/PartnerControls"/>
    </ba4f3f7782ca4fe0b8e096a1d9357824>
  </documentManagement>
</p:properties>
</file>

<file path=customXml/item5.xml><?xml version="1.0" encoding="utf-8"?>
<qs:UpdateInfoSlideData xmlns:xsd="http://www.w3.org/2001/XMLSchema" xmlns:xsi="http://www.w3.org/2001/XMLSchema-instance" xmlns:qs="urn:wieselhuber:quickSlide:extdata:slide:updateinfo">
  <qs:ThisSlideInfo>
    <qs:SlideGuid>5876C0D0-7B61-47DE-B2C4-C99147759222</qs:SlideGuid>
    <qs:SlideTitle>(kein Titel)</qs:SlideTitle>
    <qs:PublishingDate>2017-02-15T09:13:13</qs:PublishingDate>
    <qs:Author>Emmrich, Daniel</qs:Author>
    <qs:OldGuid>809d0b33-b62c-4291-9b03-57193aa14aa4</qs:OldGuid>
  </qs:ThisSlideInfo>
  <qs:OrigSlideInfo>
    <qs:SlideGuid>5876C0D0-7B61-47DE-B2C4-C99147759222</qs:SlideGuid>
    <qs:SlideTitle>(kein Titel)</qs:SlideTitle>
    <qs:PublishingDate>2017-02-15T09:13:13</qs:PublishingDate>
    <qs:Author>Emmrich, Daniel</qs:Author>
    <qs:OldGuid>809d0b33-b62c-4291-9b03-57193aa14aa4</qs:OldGuid>
  </qs:OrigSlideInfo>
</qs:UpdateInfoSlideData>
</file>

<file path=customXml/item6.xml><?xml version="1.0" encoding="utf-8"?>
<qs:UpdateInfoSlideData xmlns:xsd="http://www.w3.org/2001/XMLSchema" xmlns:xsi="http://www.w3.org/2001/XMLSchema-instance" xmlns:qs="urn:wieselhuber:f7181dc1-31d2-4bed-9f66-8feaf52e2b17:quickSlide:extdata:slide:updateinfo">
  <qs:ThisSlideInfo>
    <qs:PresentationGuid/>
    <qs:SlideGuid>83B501F6-A154-40B1-AABD-6AC5B17BCDEA</qs:SlideGuid>
    <qs:SlideTitle>(kein Titel)_003</qs:SlideTitle>
    <qs:PublishingDate>2020-03-06T16:35:44</qs:PublishingDate>
    <qs:OldGuid/>
  </qs:ThisSlideInfo>
  <qs:OrigSlideInfo>
    <qs:PresentationGuid/>
    <qs:SlideGuid>83B501F6-A154-40B1-AABD-6AC5B17BCDEA</qs:SlideGuid>
    <qs:SlideTitle>(kein Titel)_003</qs:SlideTitle>
    <qs:PublishingDate>2020-03-06T16:35:44</qs:PublishingDate>
    <qs:OldGuid/>
  </qs:OrigSlideInfo>
</qs:UpdateInfoSlideData>
</file>

<file path=customXml/itemProps1.xml><?xml version="1.0" encoding="utf-8"?>
<ds:datastoreItem xmlns:ds="http://schemas.openxmlformats.org/officeDocument/2006/customXml" ds:itemID="{E11CFD44-7790-46DE-AE12-62D6020A8C25}">
  <ds:schemaRefs>
    <ds:schemaRef ds:uri="3012be31-8395-44a9-97a5-3c73eb043596"/>
    <ds:schemaRef ds:uri="40f73c17-a26f-4f8f-b99b-e2856ce3a829"/>
    <ds:schemaRef ds:uri="4ae5d5cb-a9f3-40ed-a922-430d41780b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{listid:Arbeitsdokumente}"/>
  </ds:schemaRefs>
</ds:datastoreItem>
</file>

<file path=customXml/itemProps2.xml><?xml version="1.0" encoding="utf-8"?>
<ds:datastoreItem xmlns:ds="http://schemas.openxmlformats.org/officeDocument/2006/customXml" ds:itemID="{FCAFAC33-1B90-44E7-AD29-C36DAC41F5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FECFE1-EB48-47F2-B9EB-477509FBD3D3}">
  <ds:schemaRefs>
    <ds:schemaRef ds:uri="urn:strategyCompass:quickSlide:basic:outline:2014"/>
  </ds:schemaRefs>
</ds:datastoreItem>
</file>

<file path=customXml/itemProps4.xml><?xml version="1.0" encoding="utf-8"?>
<ds:datastoreItem xmlns:ds="http://schemas.openxmlformats.org/officeDocument/2006/customXml" ds:itemID="{7FF47D16-FC5D-45AF-A8AA-DBB1AF64C6D5}">
  <ds:schemaRefs>
    <ds:schemaRef ds:uri="3012be31-8395-44a9-97a5-3c73eb043596"/>
    <ds:schemaRef ds:uri="40f73c17-a26f-4f8f-b99b-e2856ce3a829"/>
    <ds:schemaRef ds:uri="4ae5d5cb-a9f3-40ed-a922-430d41780b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{listid:Arbeitsdokumente}"/>
  </ds:schemaRefs>
</ds:datastoreItem>
</file>

<file path=customXml/itemProps5.xml><?xml version="1.0" encoding="utf-8"?>
<ds:datastoreItem xmlns:ds="http://schemas.openxmlformats.org/officeDocument/2006/customXml" ds:itemID="{82C0A570-04D4-47CD-91EF-DAADADE8FE71}">
  <ds:schemaRefs>
    <ds:schemaRef ds:uri="http://www.w3.org/2001/XMLSchema"/>
    <ds:schemaRef ds:uri="urn:wieselhuber:quickSlide:extdata:slide:updateinfo"/>
  </ds:schemaRefs>
</ds:datastoreItem>
</file>

<file path=customXml/itemProps6.xml><?xml version="1.0" encoding="utf-8"?>
<ds:datastoreItem xmlns:ds="http://schemas.openxmlformats.org/officeDocument/2006/customXml" ds:itemID="{B222C75D-DD5A-4339-BA9B-37183D5B97A4}">
  <ds:schemaRefs>
    <ds:schemaRef ds:uri="http://www.w3.org/2001/XMLSchema"/>
    <ds:schemaRef ds:uri="urn:wieselhuber:f7181dc1-31d2-4bed-9f66-8feaf52e2b17:quickSlide:extdata:slide:updateinfo"/>
  </ds:schemaRefs>
</ds:datastoreItem>
</file>

<file path=docMetadata/LabelInfo.xml><?xml version="1.0" encoding="utf-8"?>
<clbl:labelList xmlns:clbl="http://schemas.microsoft.com/office/2020/mipLabelMetadata">
  <clbl:label id="{3cc75823-5d2d-4181-92a7-9769dca5e83c}" enabled="1" method="Standard" siteId="{0f259528-e1e3-42b4-9195-5916b25b716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Dr.Wieselhuber und Partner 16zu9</Template>
  <TotalTime>0</TotalTime>
  <Words>338</Words>
  <Application>Microsoft Office PowerPoint</Application>
  <PresentationFormat>Breitbild</PresentationFormat>
  <Paragraphs>79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Goudy Old Style</vt:lpstr>
      <vt:lpstr>Wingdings</vt:lpstr>
      <vt:lpstr>Wingdings 2</vt:lpstr>
      <vt:lpstr>Wingdings 3</vt:lpstr>
      <vt:lpstr>Dr. Wieselhuber und Partner 16zu9</vt:lpstr>
      <vt:lpstr>think-cell Folie</vt:lpstr>
      <vt:lpstr>Deutschland ist Europas größter Kunststoffproduzent und könnte trotz der aktuell schwierigen Entwicklung von neuen Handelsbeziehungen profitieren. Die Kunststoffverarbeitungsmaschinenbranche wird leicht wachsen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Schmadel, Verena</dc:creator>
  <cp:lastModifiedBy>Dhillon, Dennis</cp:lastModifiedBy>
  <cp:revision>3</cp:revision>
  <cp:lastPrinted>2016-11-16T09:16:12Z</cp:lastPrinted>
  <dcterms:created xsi:type="dcterms:W3CDTF">2025-03-05T09:01:02Z</dcterms:created>
  <dcterms:modified xsi:type="dcterms:W3CDTF">2026-09-07T15:53:15Z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0x0101000773225A3F2A3C4C8EDF7F273B87F2C9</vt:lpwstr>
  </property>
  <property fmtid="{D5CDD505-2E9C-101B-9397-08002B2CF9AE}" pid="3" name="TaxKeyword">
    <vt:lpwstr/>
  </property>
  <property fmtid="{D5CDD505-2E9C-101B-9397-08002B2CF9AE}" pid="4" name="Dokumentart">
    <vt:lpwstr/>
  </property>
  <property fmtid="{D5CDD505-2E9C-101B-9397-08002B2CF9AE}" pid="5" name="Kompetenz">
    <vt:lpwstr/>
  </property>
  <property fmtid="{D5CDD505-2E9C-101B-9397-08002B2CF9AE}" pid="6" name="Branche">
    <vt:lpwstr/>
  </property>
  <property fmtid="{D5CDD505-2E9C-101B-9397-08002B2CF9AE}" pid="7" name="MediaServiceImageTags">
    <vt:lpwstr/>
  </property>
  <property fmtid="{D5CDD505-2E9C-101B-9397-08002B2CF9AE}" pid="8" name="Kompetenzen">
    <vt:lpwstr/>
  </property>
</Properties>
</file>